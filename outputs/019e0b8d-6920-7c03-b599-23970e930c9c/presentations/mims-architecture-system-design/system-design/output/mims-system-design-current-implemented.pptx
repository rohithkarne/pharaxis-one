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ea2f886fe648fa" /><Relationship Type="http://schemas.openxmlformats.org/officeDocument/2006/relationships/extended-properties" Target="/docProps/app.xml" Id="R65c8868563164366" /><Relationship Type="http://schemas.openxmlformats.org/officeDocument/2006/relationships/officeDocument" Target="/ppt/presentation.xml" Id="Re4d4f7bfbe2a41d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b797c6bc52a4bb3"/>
  </p:sldMasterIdLst>
  <p:notesMasterIdLst>
    <p:notesMasterId xmlns:r="http://schemas.openxmlformats.org/officeDocument/2006/relationships" r:id="R46c689f60d3b4f1f"/>
  </p:notesMasterIdLst>
  <p:sldIdLst>
    <p:sldId xmlns:r="http://schemas.openxmlformats.org/officeDocument/2006/relationships" id="256" r:id="R521cfb166e22482c"/>
    <p:sldId xmlns:r="http://schemas.openxmlformats.org/officeDocument/2006/relationships" id="257" r:id="Rb6ec5876534848b5"/>
    <p:sldId xmlns:r="http://schemas.openxmlformats.org/officeDocument/2006/relationships" id="258" r:id="Ra41d38d2f56744b4"/>
    <p:sldId xmlns:r="http://schemas.openxmlformats.org/officeDocument/2006/relationships" id="259" r:id="Rc49ff2174bcb49f6"/>
    <p:sldId xmlns:r="http://schemas.openxmlformats.org/officeDocument/2006/relationships" id="260" r:id="R8b40a3c8ce684a30"/>
    <p:sldId xmlns:r="http://schemas.openxmlformats.org/officeDocument/2006/relationships" id="261" r:id="Re96dd149175e4edb"/>
    <p:sldId xmlns:r="http://schemas.openxmlformats.org/officeDocument/2006/relationships" id="262" r:id="R5531d4bfab014390"/>
    <p:sldId xmlns:r="http://schemas.openxmlformats.org/officeDocument/2006/relationships" id="263" r:id="R2947353ef1cc417a"/>
    <p:sldId xmlns:r="http://schemas.openxmlformats.org/officeDocument/2006/relationships" id="264" r:id="R95fd592a73bc47c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797c6bc52a4bb3" /><Relationship Type="http://schemas.openxmlformats.org/officeDocument/2006/relationships/theme" Target="/ppt/theme/theme1.xml" Id="Rfc3cad5793b14504" /><Relationship Type="http://schemas.openxmlformats.org/officeDocument/2006/relationships/notesMaster" Target="/ppt/notesMasters/notesMaster1.xml" Id="R46c689f60d3b4f1f" /><Relationship Type="http://schemas.openxmlformats.org/officeDocument/2006/relationships/presProps" Target="/ppt/presProps.xml" Id="Rf3691ab21baf4ad2" /><Relationship Type="http://schemas.openxmlformats.org/officeDocument/2006/relationships/viewProps" Target="/ppt/viewProps.xml" Id="R76eb1f65b68f4086" /><Relationship Type="http://schemas.openxmlformats.org/officeDocument/2006/relationships/tableStyles" Target="/ppt/tableStyles.xml" Id="R79abc0934b304e03" /><Relationship Type="http://schemas.openxmlformats.org/officeDocument/2006/relationships/slide" Target="/ppt/slides/slide1.xml" Id="R521cfb166e22482c" /><Relationship Type="http://schemas.openxmlformats.org/officeDocument/2006/relationships/slide" Target="/ppt/slides/slide2.xml" Id="Rb6ec5876534848b5" /><Relationship Type="http://schemas.openxmlformats.org/officeDocument/2006/relationships/slide" Target="/ppt/slides/slide3.xml" Id="Ra41d38d2f56744b4" /><Relationship Type="http://schemas.openxmlformats.org/officeDocument/2006/relationships/slide" Target="/ppt/slides/slide4.xml" Id="Rc49ff2174bcb49f6" /><Relationship Type="http://schemas.openxmlformats.org/officeDocument/2006/relationships/slide" Target="/ppt/slides/slide5.xml" Id="R8b40a3c8ce684a30" /><Relationship Type="http://schemas.openxmlformats.org/officeDocument/2006/relationships/slide" Target="/ppt/slides/slide6.xml" Id="Re96dd149175e4edb" /><Relationship Type="http://schemas.openxmlformats.org/officeDocument/2006/relationships/slide" Target="/ppt/slides/slide7.xml" Id="R5531d4bfab014390" /><Relationship Type="http://schemas.openxmlformats.org/officeDocument/2006/relationships/slide" Target="/ppt/slides/slide8.xml" Id="R2947353ef1cc417a" /><Relationship Type="http://schemas.openxmlformats.org/officeDocument/2006/relationships/slide" Target="/ppt/slides/slide9.xml" Id="R95fd592a73bc47c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4a18601166142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c6712e2a3f4ad5" /><Relationship Type="http://schemas.openxmlformats.org/officeDocument/2006/relationships/notesMaster" Target="/ppt/notesMasters/notesMaster1.xml" Id="R40d4d72f0eee4f3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196fad965404b69" /><Relationship Type="http://schemas.openxmlformats.org/officeDocument/2006/relationships/notesMaster" Target="/ppt/notesMasters/notesMaster1.xml" Id="Re65e4fac30b44ea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439cb16076f4258" /><Relationship Type="http://schemas.openxmlformats.org/officeDocument/2006/relationships/notesMaster" Target="/ppt/notesMasters/notesMaster1.xml" Id="R65aa3813ea59452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dd22288335d433b" /><Relationship Type="http://schemas.openxmlformats.org/officeDocument/2006/relationships/notesMaster" Target="/ppt/notesMasters/notesMaster1.xml" Id="R33d24fb92d14466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71021e4009f4968" /><Relationship Type="http://schemas.openxmlformats.org/officeDocument/2006/relationships/notesMaster" Target="/ppt/notesMasters/notesMaster1.xml" Id="R69efaa0d8c214b6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eca7bc5e70645d1" /><Relationship Type="http://schemas.openxmlformats.org/officeDocument/2006/relationships/notesMaster" Target="/ppt/notesMasters/notesMaster1.xml" Id="R500fa9106355477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8c3750ad4684458" /><Relationship Type="http://schemas.openxmlformats.org/officeDocument/2006/relationships/notesMaster" Target="/ppt/notesMasters/notesMaster1.xml" Id="R2d677d6a0f2e4ee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f370b935c3d4ed9" /><Relationship Type="http://schemas.openxmlformats.org/officeDocument/2006/relationships/notesMaster" Target="/ppt/notesMasters/notesMaster1.xml" Id="R0fae88c15dd6451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ed60f7e29054bc0" /><Relationship Type="http://schemas.openxmlformats.org/officeDocument/2006/relationships/notesMaster" Target="/ppt/notesMasters/notesMaster1.xml" Id="R3bc474720eb3416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f1657bf5a5430b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b297e9b26574e36" /><Relationship Type="http://schemas.openxmlformats.org/officeDocument/2006/relationships/slideLayout" Target="/ppt/slideLayouts/slideLayout2.xml" Id="R4b33dfa6b4e746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33dfa6b4e746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6af2ec7658495c" /><Relationship Type="http://schemas.openxmlformats.org/officeDocument/2006/relationships/notesSlide" Target="/ppt/notesSlides/notesSlide1.xml" Id="R736b1ca0162640e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37774649ee437c" /><Relationship Type="http://schemas.openxmlformats.org/officeDocument/2006/relationships/notesSlide" Target="/ppt/notesSlides/notesSlide2.xml" Id="Radef5aa7e5a246f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0f931cf06244d4" /><Relationship Type="http://schemas.openxmlformats.org/officeDocument/2006/relationships/notesSlide" Target="/ppt/notesSlides/notesSlide3.xml" Id="Rc678b76ba5ef454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e2ac1ea9f4408a" /><Relationship Type="http://schemas.openxmlformats.org/officeDocument/2006/relationships/notesSlide" Target="/ppt/notesSlides/notesSlide4.xml" Id="R6e7269e7c0fc498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d172d91ea24ec2" /><Relationship Type="http://schemas.openxmlformats.org/officeDocument/2006/relationships/notesSlide" Target="/ppt/notesSlides/notesSlide5.xml" Id="R1f5ad7dd85d24de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2cec1967234ba2" /><Relationship Type="http://schemas.openxmlformats.org/officeDocument/2006/relationships/notesSlide" Target="/ppt/notesSlides/notesSlide6.xml" Id="R737f958bae6f4f4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b2ccac2f944d3e" /><Relationship Type="http://schemas.openxmlformats.org/officeDocument/2006/relationships/notesSlide" Target="/ppt/notesSlides/notesSlide7.xml" Id="R96ae00517ad1436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0855c5239f541e3" /><Relationship Type="http://schemas.openxmlformats.org/officeDocument/2006/relationships/notesSlide" Target="/ppt/notesSlides/notesSlide8.xml" Id="Rcdde8ec66bd74d7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e2a440f36743e3" /><Relationship Type="http://schemas.openxmlformats.org/officeDocument/2006/relationships/notesSlide" Target="/ppt/notesSlides/notesSlide9.xml" Id="R26f56e57cc4147e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87678F-8D6F-48E8-88CE-20E4F2CF2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E60A02-FC81-4041-BA3B-1CAF66FB6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33500" y="-19050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355B"/>
          </a:solidFill>
          <a:ln xmlns:a="http://schemas.openxmlformats.org/drawingml/2006/main" w="0">
            <a:solidFill>
              <a:srgbClr val="1C35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1A16DE-2FE6-4810-90B3-5221AC2C8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572000"/>
            <a:ext cx="3619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2F49"/>
          </a:solidFill>
          <a:ln xmlns:a="http://schemas.openxmlformats.org/drawingml/2006/main" w="0">
            <a:solidFill>
              <a:srgbClr val="1F2F4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DA9F45-FEF8-46BC-9119-035674C72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11201400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D"/>
          </a:solidFill>
          <a:ln xmlns:a="http://schemas.openxmlformats.org/drawingml/2006/main" w="11430">
            <a:solidFill>
              <a:srgbClr val="28466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BB098B-B9F6-49A7-9235-023E4A773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28750"/>
            <a:ext cx="857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5FBFF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F5FBFF"/>
                </a:solidFill>
                <a:latin typeface="Aptos Display"/>
                <a:ea typeface="Aptos Display"/>
                <a:cs typeface="Aptos Display"/>
              </a:rPr>
              <a:t>MIMS SYSTEM 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82B5B0-9269-4860-A391-D4CEB462D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09800"/>
            <a:ext cx="723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C2C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5C2C7"/>
                </a:solidFill>
                <a:latin typeface="Aptos"/>
                <a:ea typeface="Aptos"/>
                <a:cs typeface="Aptos"/>
              </a:rPr>
              <a:t>Current Implemented Runtime Design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042BE9-F025-42D5-B2FE-8E59B3834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24150"/>
            <a:ext cx="8763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9D3E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B9D3EF"/>
                </a:solidFill>
                <a:latin typeface="Aptos"/>
                <a:ea typeface="Aptos"/>
                <a:cs typeface="Aptos"/>
              </a:rPr>
              <a:t>Channels, request paths, state transitions, realtime fan-out, and operational controls from live codebase structure.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647341-FFE1-45B3-9D62-7D5D7096D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72050"/>
            <a:ext cx="457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C2C7"/>
          </a:solidFill>
          <a:ln xmlns:a="http://schemas.openxmlformats.org/drawingml/2006/main" w="0">
            <a:solidFill>
              <a:srgbClr val="15C2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56FE46-3156-4893-AFBF-98A2F949C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972050"/>
            <a:ext cx="2209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A2E"/>
          </a:solidFill>
          <a:ln xmlns:a="http://schemas.openxmlformats.org/drawingml/2006/main" w="0">
            <a:solidFill>
              <a:srgbClr val="F39A2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9DB62C-A204-4F55-A1EF-935E2F953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768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EB0D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8EB0D3"/>
                </a:solidFill>
                <a:latin typeface="Aptos"/>
                <a:ea typeface="Aptos"/>
                <a:cs typeface="Aptos"/>
              </a:rPr>
              <a:t>As-of: 2026-05-09</a:t>
            </a:r>
          </a:p>
        </p:txBody>
      </p:sp>
    </p:spTree>
    <p:extLst>
      <p:ext uri="{BB962C8B-B14F-4D97-AF65-F5344CB8AC3E}">
        <p14:creationId xmlns:p14="http://schemas.microsoft.com/office/powerpoint/2010/main" val="159255265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4C2454-D832-4FF6-84EE-CD164451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5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8C802C-ADD5-4BF4-BFB5-4C8FFCC5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933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FBFF"/>
                </a:solidFill>
                <a:latin typeface="Aptos Display"/>
                <a:ea typeface="Aptos Display"/>
                <a:cs typeface="Aptos Display"/>
              </a:rPr>
              <a:t>System Design Goals And NFR Posture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B73C53-71EC-4932-949F-8A2E6C863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3345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B4D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1B4D9"/>
                </a:solidFill>
                <a:latin typeface="Aptos"/>
                <a:ea typeface="Aptos"/>
                <a:cs typeface="Aptos"/>
              </a:rPr>
              <a:t>Design intent observed in code-level structure and runtime controls.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070550-1535-49D2-9895-36A7AA2E3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34290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640"/>
          </a:solidFill>
          <a:ln xmlns:a="http://schemas.openxmlformats.org/drawingml/2006/main" w="11430">
            <a:solidFill>
              <a:srgbClr val="27496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FCDE43-8576-4232-B62A-686A908C6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C2C7"/>
          </a:solidFill>
          <a:ln xmlns:a="http://schemas.openxmlformats.org/drawingml/2006/main" w="0">
            <a:solidFill>
              <a:srgbClr val="15C2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4A46F9-72B0-40EB-93F4-7929ECCB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6690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FF8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FF8FF"/>
                </a:solidFill>
                <a:latin typeface="Aptos"/>
                <a:ea typeface="Aptos"/>
                <a:cs typeface="Aptos"/>
              </a:rPr>
              <a:t>Security-First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4324AF-6960-45A0-A9F4-F66E6A458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05050"/>
            <a:ext cx="30480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7CEE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7CEE7"/>
                </a:solidFill>
                <a:latin typeface="Aptos"/>
                <a:ea typeface="Aptos"/>
                <a:cs typeface="Aptos"/>
              </a:rPr>
              <a:t>JWT + session-table validation</a:t>
            </a:r>
          </a:p>
          <a:p xmlns:a="http://schemas.openxmlformats.org/drawingml/2006/main">
            <a:pPr algn="l">
              <a:defRPr sz="1275" b="0">
                <a:solidFill>
                  <a:srgbClr val="B7CEE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7CEE7"/>
                </a:solidFill>
                <a:latin typeface="Aptos"/>
                <a:ea typeface="Aptos"/>
                <a:cs typeface="Aptos"/>
              </a:rPr>
              <a:t>Role and organisation scoped access</a:t>
            </a:r>
          </a:p>
          <a:p xmlns:a="http://schemas.openxmlformats.org/drawingml/2006/main">
            <a:pPr algn="l">
              <a:defRPr sz="1275" b="0">
                <a:solidFill>
                  <a:srgbClr val="B7CEE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7CEE7"/>
                </a:solidFill>
                <a:latin typeface="Aptos"/>
                <a:ea typeface="Aptos"/>
                <a:cs typeface="Aptos"/>
              </a:rPr>
              <a:t>Auth, login, recovery rate limits</a:t>
            </a:r>
          </a:p>
          <a:p xmlns:a="http://schemas.openxmlformats.org/drawingml/2006/main">
            <a:pPr algn="l">
              <a:defRPr sz="1275" b="0">
                <a:solidFill>
                  <a:srgbClr val="B7CEE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7CEE7"/>
                </a:solidFill>
                <a:latin typeface="Aptos"/>
                <a:ea typeface="Aptos"/>
                <a:cs typeface="Aptos"/>
              </a:rPr>
              <a:t>Input payload sanitization</a:t>
            </a:r>
          </a:p>
          <a:p xmlns:a="http://schemas.openxmlformats.org/drawingml/2006/main">
            <a:pPr algn="l">
              <a:defRPr sz="1275" b="0">
                <a:solidFill>
                  <a:srgbClr val="B7CEE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7CEE7"/>
                </a:solidFill>
                <a:latin typeface="Aptos"/>
                <a:ea typeface="Aptos"/>
                <a:cs typeface="Aptos"/>
              </a:rPr>
              <a:t>Security header middleware</a:t>
            </a:r>
          </a:p>
          <a:p xmlns:a="http://schemas.openxmlformats.org/drawingml/2006/main">
            <a:pPr algn="l">
              <a:defRPr sz="1275" b="0">
                <a:solidFill>
                  <a:srgbClr val="B7CEE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7CEE7"/>
                </a:solidFill>
                <a:latin typeface="Aptos"/>
                <a:ea typeface="Aptos"/>
                <a:cs typeface="Aptos"/>
              </a:rPr>
              <a:t>2FA and SSO route surfaces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3B01BD-CE06-4549-8DAC-EB5CEABAF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19250"/>
            <a:ext cx="34290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640"/>
          </a:solidFill>
          <a:ln xmlns:a="http://schemas.openxmlformats.org/drawingml/2006/main" w="11430">
            <a:solidFill>
              <a:srgbClr val="27496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CDECFD-4C86-444D-A276-C4DB9EA0E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1925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BFD"/>
          </a:solidFill>
          <a:ln xmlns:a="http://schemas.openxmlformats.org/drawingml/2006/main" w="0">
            <a:solidFill>
              <a:srgbClr val="3D8BF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0F907A-903F-461D-B9FE-710A1B31E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6690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FF8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FF8FF"/>
                </a:solidFill>
                <a:latin typeface="Aptos"/>
                <a:ea typeface="Aptos"/>
                <a:cs typeface="Aptos"/>
              </a:rPr>
              <a:t>Regulated Workflow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938434-8B3D-4BA3-A6D2-18EB8528D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05050"/>
            <a:ext cx="30480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7CEE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7CEE7"/>
                </a:solidFill>
                <a:latin typeface="Aptos"/>
                <a:ea typeface="Aptos"/>
                <a:cs typeface="Aptos"/>
              </a:rPr>
              <a:t>Versioned API contract surface</a:t>
            </a:r>
          </a:p>
          <a:p xmlns:a="http://schemas.openxmlformats.org/drawingml/2006/main">
            <a:pPr algn="l">
              <a:defRPr sz="1275" b="0">
                <a:solidFill>
                  <a:srgbClr val="B7CEE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7CEE7"/>
                </a:solidFill>
                <a:latin typeface="Aptos"/>
                <a:ea typeface="Aptos"/>
                <a:cs typeface="Aptos"/>
              </a:rPr>
              <a:t>Audit and transmission trails</a:t>
            </a:r>
          </a:p>
          <a:p xmlns:a="http://schemas.openxmlformats.org/drawingml/2006/main">
            <a:pPr algn="l">
              <a:defRPr sz="1275" b="0">
                <a:solidFill>
                  <a:srgbClr val="B7CEE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7CEE7"/>
                </a:solidFill>
                <a:latin typeface="Aptos"/>
                <a:ea typeface="Aptos"/>
                <a:cs typeface="Aptos"/>
              </a:rPr>
              <a:t>Immutable transition patterns</a:t>
            </a:r>
          </a:p>
          <a:p xmlns:a="http://schemas.openxmlformats.org/drawingml/2006/main">
            <a:pPr algn="l">
              <a:defRPr sz="1275" b="0">
                <a:solidFill>
                  <a:srgbClr val="B7CEE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7CEE7"/>
                </a:solidFill>
                <a:latin typeface="Aptos"/>
                <a:ea typeface="Aptos"/>
                <a:cs typeface="Aptos"/>
              </a:rPr>
              <a:t>Admin and superadmin separation</a:t>
            </a:r>
          </a:p>
          <a:p xmlns:a="http://schemas.openxmlformats.org/drawingml/2006/main">
            <a:pPr algn="l">
              <a:defRPr sz="1275" b="0">
                <a:solidFill>
                  <a:srgbClr val="B7CEE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7CEE7"/>
                </a:solidFill>
                <a:latin typeface="Aptos"/>
                <a:ea typeface="Aptos"/>
                <a:cs typeface="Aptos"/>
              </a:rPr>
              <a:t>Case lifecycle + DPPR governance</a:t>
            </a:r>
          </a:p>
          <a:p xmlns:a="http://schemas.openxmlformats.org/drawingml/2006/main">
            <a:pPr algn="l">
              <a:defRPr sz="1275" b="0">
                <a:solidFill>
                  <a:srgbClr val="B7CEE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7CEE7"/>
                </a:solidFill>
                <a:latin typeface="Aptos"/>
                <a:ea typeface="Aptos"/>
                <a:cs typeface="Aptos"/>
              </a:rPr>
              <a:t>Service-level logging hooks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2829D7-620A-47E8-95C6-8E8D2BCC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19250"/>
            <a:ext cx="34290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640"/>
          </a:solidFill>
          <a:ln xmlns:a="http://schemas.openxmlformats.org/drawingml/2006/main" w="11430">
            <a:solidFill>
              <a:srgbClr val="27496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E4ABF3-3E7D-4575-8936-BA35FB8D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1925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A2E"/>
          </a:solidFill>
          <a:ln xmlns:a="http://schemas.openxmlformats.org/drawingml/2006/main" w="0">
            <a:solidFill>
              <a:srgbClr val="F39A2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93E0AD-6D36-495C-AE3C-FC04DF0C7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6690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FF8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FF8FF"/>
                </a:solidFill>
                <a:latin typeface="Aptos"/>
                <a:ea typeface="Aptos"/>
                <a:cs typeface="Aptos"/>
              </a:rPr>
              <a:t>Operational Resilience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3948F2-7C05-40EC-8C52-83DAAD4BB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05050"/>
            <a:ext cx="30480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7CEE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7CEE7"/>
                </a:solidFill>
                <a:latin typeface="Aptos"/>
                <a:ea typeface="Aptos"/>
                <a:cs typeface="Aptos"/>
              </a:rPr>
              <a:t>DB init gate before listen()</a:t>
            </a:r>
          </a:p>
          <a:p xmlns:a="http://schemas.openxmlformats.org/drawingml/2006/main">
            <a:pPr algn="l">
              <a:defRPr sz="1275" b="0">
                <a:solidFill>
                  <a:srgbClr val="B7CEE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7CEE7"/>
                </a:solidFill>
                <a:latin typeface="Aptos"/>
                <a:ea typeface="Aptos"/>
                <a:cs typeface="Aptos"/>
              </a:rPr>
              <a:t>Worker child-process supervision</a:t>
            </a:r>
          </a:p>
          <a:p xmlns:a="http://schemas.openxmlformats.org/drawingml/2006/main">
            <a:pPr algn="l">
              <a:defRPr sz="1275" b="0">
                <a:solidFill>
                  <a:srgbClr val="B7CEE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7CEE7"/>
                </a:solidFill>
                <a:latin typeface="Aptos"/>
                <a:ea typeface="Aptos"/>
                <a:cs typeface="Aptos"/>
              </a:rPr>
              <a:t>Scheduler with named cron jobs</a:t>
            </a:r>
          </a:p>
          <a:p xmlns:a="http://schemas.openxmlformats.org/drawingml/2006/main">
            <a:pPr algn="l">
              <a:defRPr sz="1275" b="0">
                <a:solidFill>
                  <a:srgbClr val="B7CEE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7CEE7"/>
                </a:solidFill>
                <a:latin typeface="Aptos"/>
                <a:ea typeface="Aptos"/>
                <a:cs typeface="Aptos"/>
              </a:rPr>
              <a:t>Realtime pub/sub cross-process fan-out</a:t>
            </a:r>
          </a:p>
          <a:p xmlns:a="http://schemas.openxmlformats.org/drawingml/2006/main">
            <a:pPr algn="l">
              <a:defRPr sz="1275" b="0">
                <a:solidFill>
                  <a:srgbClr val="B7CEE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7CEE7"/>
                </a:solidFill>
                <a:latin typeface="Aptos"/>
                <a:ea typeface="Aptos"/>
                <a:cs typeface="Aptos"/>
              </a:rPr>
              <a:t>Health endpoint verifies DB reachability</a:t>
            </a:r>
          </a:p>
          <a:p xmlns:a="http://schemas.openxmlformats.org/drawingml/2006/main">
            <a:pPr algn="l">
              <a:defRPr sz="1275" b="0">
                <a:solidFill>
                  <a:srgbClr val="B7CEE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7CEE7"/>
                </a:solidFill>
                <a:latin typeface="Aptos"/>
                <a:ea typeface="Aptos"/>
                <a:cs typeface="Aptos"/>
              </a:rPr>
              <a:t>Graceful shutdown signal handling</a:t>
            </a:r>
          </a:p>
        </p:txBody>
      </p:sp>
    </p:spTree>
    <p:extLst>
      <p:ext uri="{BB962C8B-B14F-4D97-AF65-F5344CB8AC3E}">
        <p14:creationId xmlns:p14="http://schemas.microsoft.com/office/powerpoint/2010/main" val="58813679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31245F-B1CA-4E65-A671-6831CE933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6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767831-7555-4D6A-992E-1BE0FF605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3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3FBFF"/>
                </a:solidFill>
                <a:latin typeface="Aptos Display"/>
                <a:ea typeface="Aptos Display"/>
                <a:cs typeface="Aptos Display"/>
              </a:rPr>
              <a:t>Primary Request Flow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F5065B-59D3-4459-A420-1A58CA7EE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2381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943"/>
          </a:solidFill>
          <a:ln xmlns:a="http://schemas.openxmlformats.org/drawingml/2006/main" w="11430">
            <a:solidFill>
              <a:srgbClr val="31547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1AFE10-C294-4A7E-92DC-605EF6CAA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C2C7"/>
          </a:solidFill>
          <a:ln xmlns:a="http://schemas.openxmlformats.org/drawingml/2006/main" w="0">
            <a:solidFill>
              <a:srgbClr val="15C2C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335C88-BF48-4EA1-B949-8AD71A22B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5260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1F8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1F8FF"/>
                </a:solidFill>
                <a:latin typeface="Aptos"/>
                <a:ea typeface="Aptos"/>
                <a:cs typeface="Aptos"/>
              </a:rPr>
              <a:t>Web/Mobile Client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A96314-CD88-46E3-A0F8-511A3864E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574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EC0E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EC0E4"/>
                </a:solidFill>
                <a:latin typeface="Aptos"/>
                <a:ea typeface="Aptos"/>
                <a:cs typeface="Aptos"/>
              </a:rPr>
              <a:t>BrowserRouter + auth context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2BF02C-4764-4535-92A0-C708BDB7A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524000"/>
            <a:ext cx="2381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943"/>
          </a:solidFill>
          <a:ln xmlns:a="http://schemas.openxmlformats.org/drawingml/2006/main" w="11430">
            <a:solidFill>
              <a:srgbClr val="31547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7840A7-366C-4E64-A61F-F0464838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52400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BFD"/>
          </a:solidFill>
          <a:ln xmlns:a="http://schemas.openxmlformats.org/drawingml/2006/main" w="0">
            <a:solidFill>
              <a:srgbClr val="3D8BF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EA0263-5568-4A4C-A529-A29496D2A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75260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1F8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1F8FF"/>
                </a:solidFill>
                <a:latin typeface="Aptos"/>
                <a:ea typeface="Aptos"/>
                <a:cs typeface="Aptos"/>
              </a:rPr>
              <a:t>API Edge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7DDC95-728E-4241-A8A4-AE016549B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0574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EC0E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EC0E4"/>
                </a:solidFill>
                <a:latin typeface="Aptos"/>
                <a:ea typeface="Aptos"/>
                <a:cs typeface="Aptos"/>
              </a:rPr>
              <a:t>cors + security + rate limits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DAA411-F7A2-4FE2-9C70-D4C046BE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24000"/>
            <a:ext cx="2381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943"/>
          </a:solidFill>
          <a:ln xmlns:a="http://schemas.openxmlformats.org/drawingml/2006/main" w="11430">
            <a:solidFill>
              <a:srgbClr val="31547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332837-394E-4965-806F-83CC79DB0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2400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A2E"/>
          </a:solidFill>
          <a:ln xmlns:a="http://schemas.openxmlformats.org/drawingml/2006/main" w="0">
            <a:solidFill>
              <a:srgbClr val="F39A2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7D4741-FD90-4EE3-A320-A8BAF4316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5260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1F8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1F8FF"/>
                </a:solidFill>
                <a:latin typeface="Aptos"/>
                <a:ea typeface="Aptos"/>
                <a:cs typeface="Aptos"/>
              </a:rPr>
              <a:t>Route Handler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27B33D-E624-46A5-9173-C05DAF9F7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574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EC0E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EC0E4"/>
                </a:solidFill>
                <a:latin typeface="Aptos"/>
                <a:ea typeface="Aptos"/>
                <a:cs typeface="Aptos"/>
              </a:rPr>
              <a:t>domain routes + middleware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E8D4D4-85ED-4DDD-B40D-5B672730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524000"/>
            <a:ext cx="2381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943"/>
          </a:solidFill>
          <a:ln xmlns:a="http://schemas.openxmlformats.org/drawingml/2006/main" w="11430">
            <a:solidFill>
              <a:srgbClr val="31547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1658CF-3355-46F1-AC4D-D01AC8E2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52400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7DFF"/>
          </a:solidFill>
          <a:ln xmlns:a="http://schemas.openxmlformats.org/drawingml/2006/main" w="0">
            <a:solidFill>
              <a:srgbClr val="9A7D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29A8D3-A499-4B0B-9162-AA3F795B6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75260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1F8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1F8FF"/>
                </a:solidFill>
                <a:latin typeface="Aptos"/>
                <a:ea typeface="Aptos"/>
                <a:cs typeface="Aptos"/>
              </a:rPr>
              <a:t>Service Layer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5E1741-BCB2-413A-AEF9-B17D01033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0574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EC0E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EC0E4"/>
                </a:solidFill>
                <a:latin typeface="Aptos"/>
                <a:ea typeface="Aptos"/>
                <a:cs typeface="Aptos"/>
              </a:rPr>
              <a:t>business logic orchestration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D8983C-6F19-46B9-81F7-96B0BA817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19450"/>
            <a:ext cx="2381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943"/>
          </a:solidFill>
          <a:ln xmlns:a="http://schemas.openxmlformats.org/drawingml/2006/main" w="11430">
            <a:solidFill>
              <a:srgbClr val="31547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A628D1-6149-4399-B747-8EC5C0D6C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1945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BFD"/>
          </a:solidFill>
          <a:ln xmlns:a="http://schemas.openxmlformats.org/drawingml/2006/main" w="0">
            <a:solidFill>
              <a:srgbClr val="3D8BF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E6C8B0-F35F-4B85-96B7-314C54149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4480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1F8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1F8FF"/>
                </a:solidFill>
                <a:latin typeface="Aptos"/>
                <a:ea typeface="Aptos"/>
                <a:cs typeface="Aptos"/>
              </a:rPr>
              <a:t>MySQL Pool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C062FF-9A46-4F49-A022-7D36DE960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7528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EC0E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EC0E4"/>
                </a:solidFill>
                <a:latin typeface="Aptos"/>
                <a:ea typeface="Aptos"/>
                <a:cs typeface="Aptos"/>
              </a:rPr>
              <a:t>query + transaction execution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A44C14-B2B3-4464-96CF-D361FB06F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19450"/>
            <a:ext cx="2381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943"/>
          </a:solidFill>
          <a:ln xmlns:a="http://schemas.openxmlformats.org/drawingml/2006/main" w="11430">
            <a:solidFill>
              <a:srgbClr val="31547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AFD167-6C25-4526-885D-07E67DDC7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1945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A2E"/>
          </a:solidFill>
          <a:ln xmlns:a="http://schemas.openxmlformats.org/drawingml/2006/main" w="0">
            <a:solidFill>
              <a:srgbClr val="F39A2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170FDF-C3FD-4155-B64A-2584A8924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480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1F8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1F8FF"/>
                </a:solidFill>
                <a:latin typeface="Aptos"/>
                <a:ea typeface="Aptos"/>
                <a:cs typeface="Aptos"/>
              </a:rPr>
              <a:t>Redis Optional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C92E7C-6C16-4BE7-B6F9-D35B14630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528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EC0E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EC0E4"/>
                </a:solidFill>
                <a:latin typeface="Aptos"/>
                <a:ea typeface="Aptos"/>
                <a:cs typeface="Aptos"/>
              </a:rPr>
              <a:t>session cache/pubsub/rl store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E6CB7F-7B7F-42E2-81A8-DCD25E70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19450"/>
            <a:ext cx="2381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943"/>
          </a:solidFill>
          <a:ln xmlns:a="http://schemas.openxmlformats.org/drawingml/2006/main" w="11430">
            <a:solidFill>
              <a:srgbClr val="31547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C85D95-27D0-4E66-8FAF-2A95CA049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1945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7DFF"/>
          </a:solidFill>
          <a:ln xmlns:a="http://schemas.openxmlformats.org/drawingml/2006/main" w="0">
            <a:solidFill>
              <a:srgbClr val="9A7D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6245B0-A0FA-4858-AA0F-00EFEB3A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4480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1F8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1F8FF"/>
                </a:solidFill>
                <a:latin typeface="Aptos"/>
                <a:ea typeface="Aptos"/>
                <a:cs typeface="Aptos"/>
              </a:rPr>
              <a:t>Realtime Emit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24D70F-653A-4775-9556-93AD8B900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7528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EC0E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EC0E4"/>
                </a:solidFill>
                <a:latin typeface="Aptos"/>
                <a:ea typeface="Aptos"/>
                <a:cs typeface="Aptos"/>
              </a:rPr>
              <a:t>ws message fan-out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08633D-316B-43E7-9921-C63C4A2C0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6215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91BE"/>
          </a:solidFill>
          <a:ln xmlns:a="http://schemas.openxmlformats.org/drawingml/2006/main" w="0">
            <a:solidFill>
              <a:srgbClr val="6B91B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8442D46-D245-4A68-BAA7-A16706BB0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96215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91BE"/>
          </a:solidFill>
          <a:ln xmlns:a="http://schemas.openxmlformats.org/drawingml/2006/main" w="0">
            <a:solidFill>
              <a:srgbClr val="6B91B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521481-72D9-4810-9D73-69009C336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6215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91BE"/>
          </a:solidFill>
          <a:ln xmlns:a="http://schemas.openxmlformats.org/drawingml/2006/main" w="0">
            <a:solidFill>
              <a:srgbClr val="6B91B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6A7B91-1CF7-4E47-87AF-FE19B2833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38450"/>
            <a:ext cx="1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91BE"/>
          </a:solidFill>
          <a:ln xmlns:a="http://schemas.openxmlformats.org/drawingml/2006/main" w="0">
            <a:solidFill>
              <a:srgbClr val="6B91B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CAC237B-0246-4B2C-B654-68BCCA0B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38450"/>
            <a:ext cx="1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91BE"/>
          </a:solidFill>
          <a:ln xmlns:a="http://schemas.openxmlformats.org/drawingml/2006/main" w="0">
            <a:solidFill>
              <a:srgbClr val="6B91B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AE6C32A-BA78-4BC6-A066-B739A0E0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838450"/>
            <a:ext cx="1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91BE"/>
          </a:solidFill>
          <a:ln xmlns:a="http://schemas.openxmlformats.org/drawingml/2006/main" w="0">
            <a:solidFill>
              <a:srgbClr val="6B91B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1105E3-1828-44F9-BEDB-625B3F6CB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108585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741"/>
          </a:solidFill>
          <a:ln xmlns:a="http://schemas.openxmlformats.org/drawingml/2006/main" w="11430">
            <a:solidFill>
              <a:srgbClr val="2C4F7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8207FF2-B91C-40AF-94AF-AEB49E31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81600"/>
            <a:ext cx="10382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2CBE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2CBE7"/>
                </a:solidFill>
                <a:latin typeface="Aptos"/>
                <a:ea typeface="Aptos"/>
                <a:cs typeface="Aptos"/>
              </a:rPr>
              <a:t>Flow characteristics: request context and exception capture are applied before domain handlers, health/version paths bypass heavy limits, and route registration is mirrored to /api/v1 through mountRoutes() for contract continuity.</a:t>
            </a:r>
          </a:p>
        </p:txBody>
      </p:sp>
    </p:spTree>
    <p:extLst>
      <p:ext uri="{BB962C8B-B14F-4D97-AF65-F5344CB8AC3E}">
        <p14:creationId xmlns:p14="http://schemas.microsoft.com/office/powerpoint/2010/main" val="189576296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4F9202-B2BF-4563-82C8-E2606B42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6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36968C-EEAC-4061-BC97-F30BCA9D3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FBFF"/>
                </a:solidFill>
                <a:latin typeface="Aptos Display"/>
                <a:ea typeface="Aptos Display"/>
                <a:cs typeface="Aptos Display"/>
              </a:rPr>
              <a:t>Authentication And Session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714E1C-6A42-4ED9-A3EA-A60CDD87D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200150"/>
            <a:ext cx="10096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741"/>
          </a:solidFill>
          <a:ln xmlns:a="http://schemas.openxmlformats.org/drawingml/2006/main" w="11430">
            <a:solidFill>
              <a:srgbClr val="2C4F7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FBB4DC-D756-4445-8349-E3FDC7D63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200150"/>
            <a:ext cx="95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C2C7"/>
          </a:solidFill>
          <a:ln xmlns:a="http://schemas.openxmlformats.org/drawingml/2006/main" w="0">
            <a:solidFill>
              <a:srgbClr val="15C2C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657E15-AA95-4A0F-B068-ABF23FA3E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390650"/>
            <a:ext cx="32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0F9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0F9FF"/>
                </a:solidFill>
                <a:latin typeface="Aptos"/>
                <a:ea typeface="Aptos"/>
                <a:cs typeface="Aptos"/>
              </a:rPr>
              <a:t>1.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64967C-93D5-4150-B8CB-D1506398C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371600"/>
            <a:ext cx="9220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2CAE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2CAE6"/>
                </a:solidFill>
                <a:latin typeface="Aptos"/>
                <a:ea typeface="Aptos"/>
                <a:cs typeface="Aptos"/>
              </a:rPr>
              <a:t>User authenticates via local credentials or organisation-configured SSO provider.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1563D8-C560-4CB8-98E4-F645A1DA6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81200"/>
            <a:ext cx="10096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741"/>
          </a:solidFill>
          <a:ln xmlns:a="http://schemas.openxmlformats.org/drawingml/2006/main" w="11430">
            <a:solidFill>
              <a:srgbClr val="2C4F7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128D0D-9F8E-4CE7-8E0D-884352BBF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81200"/>
            <a:ext cx="95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BFD"/>
          </a:solidFill>
          <a:ln xmlns:a="http://schemas.openxmlformats.org/drawingml/2006/main" w="0">
            <a:solidFill>
              <a:srgbClr val="3D8BF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1AAE8C-7268-4E6E-8EB4-86519A468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71700"/>
            <a:ext cx="32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0F9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0F9FF"/>
                </a:solidFill>
                <a:latin typeface="Aptos"/>
                <a:ea typeface="Aptos"/>
                <a:cs typeface="Aptos"/>
              </a:rPr>
              <a:t>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09358E-9478-4CE4-B590-1CC3742D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152650"/>
            <a:ext cx="9220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2CAE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2CAE6"/>
                </a:solidFill>
                <a:latin typeface="Aptos"/>
                <a:ea typeface="Aptos"/>
                <a:cs typeface="Aptos"/>
              </a:rPr>
              <a:t>Auth route enforces dedicated rate limits for login/recovery/verification surfaces.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F6B423-8AC0-4B45-A7C6-43872F145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10096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741"/>
          </a:solidFill>
          <a:ln xmlns:a="http://schemas.openxmlformats.org/drawingml/2006/main" w="11430">
            <a:solidFill>
              <a:srgbClr val="2C4F7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E996E4-76AD-4EB0-A463-90676A285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95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A2E"/>
          </a:solidFill>
          <a:ln xmlns:a="http://schemas.openxmlformats.org/drawingml/2006/main" w="0">
            <a:solidFill>
              <a:srgbClr val="F39A2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27395E-8303-46D3-AB01-E735AA467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52750"/>
            <a:ext cx="32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0F9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0F9FF"/>
                </a:solidFill>
                <a:latin typeface="Aptos"/>
                <a:ea typeface="Aptos"/>
                <a:cs typeface="Aptos"/>
              </a:rPr>
              <a:t>3.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6DB6C3-3900-4E0E-8E7D-1FE7F2F71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933700"/>
            <a:ext cx="9220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2CAE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2CAE6"/>
                </a:solidFill>
                <a:latin typeface="Aptos"/>
                <a:ea typeface="Aptos"/>
                <a:cs typeface="Aptos"/>
              </a:rPr>
              <a:t>JWT token is issued and linked to sessions table for tracked revocation/expiry logic.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BC02A1-9DB9-4412-A956-979E8829C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43300"/>
            <a:ext cx="10096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741"/>
          </a:solidFill>
          <a:ln xmlns:a="http://schemas.openxmlformats.org/drawingml/2006/main" w="11430">
            <a:solidFill>
              <a:srgbClr val="2C4F7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328E07-5710-42C2-BB20-D00E3DC16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43300"/>
            <a:ext cx="95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7DFF"/>
          </a:solidFill>
          <a:ln xmlns:a="http://schemas.openxmlformats.org/drawingml/2006/main" w="0">
            <a:solidFill>
              <a:srgbClr val="9A7D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B51A62-CB6E-41D4-8A0B-7BEC58F84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33800"/>
            <a:ext cx="32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0F9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0F9FF"/>
                </a:solidFill>
                <a:latin typeface="Aptos"/>
                <a:ea typeface="Aptos"/>
                <a:cs typeface="Aptos"/>
              </a:rPr>
              <a:t>4.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896671-2EF4-4169-9231-F4D42966C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714750"/>
            <a:ext cx="9220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2CAE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2CAE6"/>
                </a:solidFill>
                <a:latin typeface="Aptos"/>
                <a:ea typeface="Aptos"/>
                <a:cs typeface="Aptos"/>
              </a:rPr>
              <a:t>On each protected request: validate signature, check session row, then inject req.user context.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DCAB7A-2150-4653-AD2A-19E9F90EA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24350"/>
            <a:ext cx="10096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741"/>
          </a:solidFill>
          <a:ln xmlns:a="http://schemas.openxmlformats.org/drawingml/2006/main" w="11430">
            <a:solidFill>
              <a:srgbClr val="2C4F7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F06304-0B21-4D52-8A54-3BC8351E4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24350"/>
            <a:ext cx="95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C2C7"/>
          </a:solidFill>
          <a:ln xmlns:a="http://schemas.openxmlformats.org/drawingml/2006/main" w="0">
            <a:solidFill>
              <a:srgbClr val="15C2C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5BF79A-F6BF-4A20-B630-22AC8D83F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14850"/>
            <a:ext cx="32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0F9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0F9FF"/>
                </a:solidFill>
                <a:latin typeface="Aptos"/>
                <a:ea typeface="Aptos"/>
                <a:cs typeface="Aptos"/>
              </a:rPr>
              <a:t>5.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E3F674-452D-4BF5-8B32-B9A085EE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495800"/>
            <a:ext cx="9220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2CAE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2CAE6"/>
                </a:solidFill>
                <a:latin typeface="Aptos"/>
                <a:ea typeface="Aptos"/>
                <a:cs typeface="Aptos"/>
              </a:rPr>
              <a:t>Role/org guards enforce route-level authorization and access-expiry checks where required.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E75C97-B0D2-4BDB-91E0-18097600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05400"/>
            <a:ext cx="10096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741"/>
          </a:solidFill>
          <a:ln xmlns:a="http://schemas.openxmlformats.org/drawingml/2006/main" w="11430">
            <a:solidFill>
              <a:srgbClr val="2C4F7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EA2E49-DE7E-4F16-9103-9B2F25742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05400"/>
            <a:ext cx="95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BFD"/>
          </a:solidFill>
          <a:ln xmlns:a="http://schemas.openxmlformats.org/drawingml/2006/main" w="0">
            <a:solidFill>
              <a:srgbClr val="3D8BF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13951B-4057-437B-9615-9E3600722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295900"/>
            <a:ext cx="32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0F9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0F9FF"/>
                </a:solidFill>
                <a:latin typeface="Aptos"/>
                <a:ea typeface="Aptos"/>
                <a:cs typeface="Aptos"/>
              </a:rPr>
              <a:t>6.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B23AE2-9563-4DA1-8E0A-B8CABE830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276850"/>
            <a:ext cx="9220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2CAE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2CAE6"/>
                </a:solidFill>
                <a:latin typeface="Aptos"/>
                <a:ea typeface="Aptos"/>
                <a:cs typeface="Aptos"/>
              </a:rPr>
              <a:t>Frontend httpFetch registers a session-expiry handler for centralized forced logout behavior.</a:t>
            </a:r>
          </a:p>
        </p:txBody>
      </p:sp>
    </p:spTree>
    <p:extLst>
      <p:ext uri="{BB962C8B-B14F-4D97-AF65-F5344CB8AC3E}">
        <p14:creationId xmlns:p14="http://schemas.microsoft.com/office/powerpoint/2010/main" val="134892032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866DE4-D827-4854-AF4D-7E76319CA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6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063F71-7610-4617-A962-4469BB63D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819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FBFF"/>
                </a:solidFill>
                <a:latin typeface="Aptos Display"/>
                <a:ea typeface="Aptos Display"/>
                <a:cs typeface="Aptos Display"/>
              </a:rPr>
              <a:t>MI Response Lifecycle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2181F2-663F-4D9F-8857-DE94BA095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14400"/>
            <a:ext cx="933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FC2E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FC2E7"/>
                </a:solidFill>
                <a:latin typeface="Aptos"/>
                <a:ea typeface="Aptos"/>
                <a:cs typeface="Aptos"/>
              </a:rPr>
              <a:t>Implemented transition model for medical information responses with auditability and delivery side effects.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485DB3-AAB5-4F5B-B524-C50985B6E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2095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741"/>
          </a:solidFill>
          <a:ln xmlns:a="http://schemas.openxmlformats.org/drawingml/2006/main" w="17145">
            <a:solidFill>
              <a:srgbClr val="15C2C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15C44A-6A84-480C-A4C8-3EB8B095F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33650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FF8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FF8FF"/>
                </a:solidFill>
                <a:latin typeface="Aptos"/>
                <a:ea typeface="Aptos"/>
                <a:cs typeface="Aptos"/>
              </a:rPr>
              <a:t>DRAFT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4DE0A9-2FEA-4983-BAA2-D7CFE6DAB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66950"/>
            <a:ext cx="2095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741"/>
          </a:solidFill>
          <a:ln xmlns:a="http://schemas.openxmlformats.org/drawingml/2006/main" w="17145">
            <a:solidFill>
              <a:srgbClr val="3D8BF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6B1B24-79A7-4BFD-BB3F-FB0189515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533650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FF8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FF8FF"/>
                </a:solidFill>
                <a:latin typeface="Aptos"/>
                <a:ea typeface="Aptos"/>
                <a:cs typeface="Aptos"/>
              </a:rPr>
              <a:t>READY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F1319E-6091-408A-8D7F-10BE1BE8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66950"/>
            <a:ext cx="2095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741"/>
          </a:solidFill>
          <a:ln xmlns:a="http://schemas.openxmlformats.org/drawingml/2006/main" w="17145">
            <a:solidFill>
              <a:srgbClr val="F39A2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737E68-E1D3-4316-88F9-9A04B5744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533650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FF8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FF8FF"/>
                </a:solidFill>
                <a:latin typeface="Aptos"/>
                <a:ea typeface="Aptos"/>
                <a:cs typeface="Aptos"/>
              </a:rPr>
              <a:t>APPROVED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1668CC-123A-449D-A897-DD9BA21A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66950"/>
            <a:ext cx="2095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741"/>
          </a:solidFill>
          <a:ln xmlns:a="http://schemas.openxmlformats.org/drawingml/2006/main" w="17145">
            <a:solidFill>
              <a:srgbClr val="9A7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1460CC-919B-4B8C-AE5B-15BC270CF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33650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FF8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FF8FF"/>
                </a:solidFill>
                <a:latin typeface="Aptos"/>
                <a:ea typeface="Aptos"/>
                <a:cs typeface="Aptos"/>
              </a:rPr>
              <a:t>SENT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490C35-FB36-4B76-810A-E81F4F59C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479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92BF"/>
          </a:solidFill>
          <a:ln xmlns:a="http://schemas.openxmlformats.org/drawingml/2006/main" w="0">
            <a:solidFill>
              <a:srgbClr val="6D92B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A6EDAA-4227-4984-BA80-43D0F81A8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6479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92BF"/>
          </a:solidFill>
          <a:ln xmlns:a="http://schemas.openxmlformats.org/drawingml/2006/main" w="0">
            <a:solidFill>
              <a:srgbClr val="6D92B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1E534A-E0C9-4C29-9BCE-5A7241C5F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479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92BF"/>
          </a:solidFill>
          <a:ln xmlns:a="http://schemas.openxmlformats.org/drawingml/2006/main" w="0">
            <a:solidFill>
              <a:srgbClr val="6D92B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E2A650-3733-47C8-93E7-9876E9862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10477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741"/>
          </a:solidFill>
          <a:ln xmlns:a="http://schemas.openxmlformats.org/drawingml/2006/main" w="11430">
            <a:solidFill>
              <a:srgbClr val="2B4F7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584A4D-E9CE-4B52-9731-A0B8DD31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81450"/>
            <a:ext cx="323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FF8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FF8FF"/>
                </a:solidFill>
                <a:latin typeface="Aptos"/>
                <a:ea typeface="Aptos"/>
                <a:cs typeface="Aptos"/>
              </a:rPr>
              <a:t>System Design Notes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9015CE-0985-4C40-9FFE-6ABDF3895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19600"/>
            <a:ext cx="9906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3CBE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3CBE7"/>
                </a:solidFill>
                <a:latin typeface="Aptos"/>
                <a:ea typeface="Aptos"/>
                <a:cs typeface="Aptos"/>
              </a:rPr>
              <a:t>• Status transitions are API-controlled and logged in transition history tables.</a:t>
            </a:r>
          </a:p>
          <a:p xmlns:a="http://schemas.openxmlformats.org/drawingml/2006/main">
            <a:pPr algn="l">
              <a:defRPr sz="1200" b="0">
                <a:solidFill>
                  <a:srgbClr val="B3CBE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3CBE7"/>
                </a:solidFill>
                <a:latin typeface="Aptos"/>
                <a:ea typeface="Aptos"/>
                <a:cs typeface="Aptos"/>
              </a:rPr>
              <a:t>• SENT transition triggers notification/transmission flow with non-fatal email delivery handling.</a:t>
            </a:r>
          </a:p>
          <a:p xmlns:a="http://schemas.openxmlformats.org/drawingml/2006/main">
            <a:pPr algn="l">
              <a:defRPr sz="1200" b="0">
                <a:solidFill>
                  <a:srgbClr val="B3CBE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3CBE7"/>
                </a:solidFill>
                <a:latin typeface="Aptos"/>
                <a:ea typeface="Aptos"/>
                <a:cs typeface="Aptos"/>
              </a:rPr>
              <a:t>• Admin/reporting surfaces expose response logs and transmission audit trails.</a:t>
            </a:r>
          </a:p>
          <a:p xmlns:a="http://schemas.openxmlformats.org/drawingml/2006/main">
            <a:pPr algn="l">
              <a:defRPr sz="1200" b="0">
                <a:solidFill>
                  <a:srgbClr val="B3CBE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3CBE7"/>
                </a:solidFill>
                <a:latin typeface="Aptos"/>
                <a:ea typeface="Aptos"/>
                <a:cs typeface="Aptos"/>
              </a:rPr>
              <a:t>• Associated case operations continue under org/role guard and shared middleware chain.</a:t>
            </a:r>
          </a:p>
        </p:txBody>
      </p:sp>
    </p:spTree>
    <p:extLst>
      <p:ext uri="{BB962C8B-B14F-4D97-AF65-F5344CB8AC3E}">
        <p14:creationId xmlns:p14="http://schemas.microsoft.com/office/powerpoint/2010/main" val="40077169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BA957A-C3C0-440B-9C49-67159D226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6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E698C8-0C90-4FE9-ABC8-7A6E88DA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933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FBFF"/>
                </a:solidFill>
                <a:latin typeface="Aptos Display"/>
                <a:ea typeface="Aptos Display"/>
                <a:cs typeface="Aptos Display"/>
              </a:rPr>
              <a:t>Realtime Sync And Notification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8A1A37-2952-4D55-AA91-96AD30EA3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1809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741"/>
          </a:solidFill>
          <a:ln xmlns:a="http://schemas.openxmlformats.org/drawingml/2006/main" w="11430">
            <a:solidFill>
              <a:srgbClr val="2D527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69E75E-526D-46A6-8F5F-72D91BF41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05000"/>
            <a:ext cx="1581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FF8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FF8FF"/>
                </a:solidFill>
                <a:latin typeface="Aptos"/>
                <a:ea typeface="Aptos"/>
                <a:cs typeface="Aptos"/>
              </a:rPr>
              <a:t>User Action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53ED34-06FD-43DE-9BE2-527B23377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09800"/>
            <a:ext cx="1581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8C3E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C3E2"/>
                </a:solidFill>
                <a:latin typeface="Aptos"/>
                <a:ea typeface="Aptos"/>
                <a:cs typeface="Aptos"/>
              </a:rPr>
              <a:t>Case/Inbox/Chat update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2934F7-D9F0-4170-8790-6AED94E51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676400"/>
            <a:ext cx="1809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741"/>
          </a:solidFill>
          <a:ln xmlns:a="http://schemas.openxmlformats.org/drawingml/2006/main" w="11430">
            <a:solidFill>
              <a:srgbClr val="2D527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6EC330-089C-445A-98C2-A36E4CE2D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905000"/>
            <a:ext cx="1581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FF8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FF8FF"/>
                </a:solidFill>
                <a:latin typeface="Aptos"/>
                <a:ea typeface="Aptos"/>
                <a:cs typeface="Aptos"/>
              </a:rPr>
              <a:t>Domain API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8B94E7-36D4-46EE-B8A7-293372F7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209800"/>
            <a:ext cx="1581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8C3E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C3E2"/>
                </a:solidFill>
                <a:latin typeface="Aptos"/>
                <a:ea typeface="Aptos"/>
                <a:cs typeface="Aptos"/>
              </a:rPr>
              <a:t>Service emits sync event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62BDD1-14C1-4099-B42A-C9C0D2FB2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676400"/>
            <a:ext cx="1809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741"/>
          </a:solidFill>
          <a:ln xmlns:a="http://schemas.openxmlformats.org/drawingml/2006/main" w="11430">
            <a:solidFill>
              <a:srgbClr val="2D527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0AEAA1-C5D6-45DC-93AC-1443A59FB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905000"/>
            <a:ext cx="1581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FF8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FF8FF"/>
                </a:solidFill>
                <a:latin typeface="Aptos"/>
                <a:ea typeface="Aptos"/>
                <a:cs typeface="Aptos"/>
              </a:rPr>
              <a:t>Local Broadcast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9019ED-CC05-453D-8A98-664CA174E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09800"/>
            <a:ext cx="1581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8C3E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C3E2"/>
                </a:solidFill>
                <a:latin typeface="Aptos"/>
                <a:ea typeface="Aptos"/>
                <a:cs typeface="Aptos"/>
              </a:rPr>
              <a:t>Active sockets in 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9B9C3E-EED2-4B60-96DB-C22F0572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76400"/>
            <a:ext cx="1809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741"/>
          </a:solidFill>
          <a:ln xmlns:a="http://schemas.openxmlformats.org/drawingml/2006/main" w="11430">
            <a:solidFill>
              <a:srgbClr val="2D527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D8969E-1B73-44ED-ACBA-0E3D61191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05000"/>
            <a:ext cx="1581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FF8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FF8FF"/>
                </a:solidFill>
                <a:latin typeface="Aptos"/>
                <a:ea typeface="Aptos"/>
                <a:cs typeface="Aptos"/>
              </a:rPr>
              <a:t>Redis Publish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9FAD7D-4CCA-449E-89A4-00D5BFD93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09800"/>
            <a:ext cx="1581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8C3E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C3E2"/>
                </a:solidFill>
                <a:latin typeface="Aptos"/>
                <a:ea typeface="Aptos"/>
                <a:cs typeface="Aptos"/>
              </a:rPr>
              <a:t>Cross-process relay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276ACD-3DBB-47E2-A25D-F99C83C50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676400"/>
            <a:ext cx="1809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741"/>
          </a:solidFill>
          <a:ln xmlns:a="http://schemas.openxmlformats.org/drawingml/2006/main" w="11430">
            <a:solidFill>
              <a:srgbClr val="2D527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BD65ED-FA7D-4FD5-B103-476892035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1905000"/>
            <a:ext cx="1581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FF8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FF8FF"/>
                </a:solidFill>
                <a:latin typeface="Aptos"/>
                <a:ea typeface="Aptos"/>
                <a:cs typeface="Aptos"/>
              </a:rPr>
              <a:t>Subscriber Fan-out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2CEC9C-6C81-4401-8063-E402515A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209800"/>
            <a:ext cx="1581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8C3E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C3E2"/>
                </a:solidFill>
                <a:latin typeface="Aptos"/>
                <a:ea typeface="Aptos"/>
                <a:cs typeface="Aptos"/>
              </a:rPr>
              <a:t>Other node sockets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E8FDC4-D13A-425A-B7DB-8A3128638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20980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95C1"/>
          </a:solidFill>
          <a:ln xmlns:a="http://schemas.openxmlformats.org/drawingml/2006/main" w="0">
            <a:solidFill>
              <a:srgbClr val="6F95C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23D4C4-6542-4119-A3CB-74AB6920A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20980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95C1"/>
          </a:solidFill>
          <a:ln xmlns:a="http://schemas.openxmlformats.org/drawingml/2006/main" w="0">
            <a:solidFill>
              <a:srgbClr val="6F95C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68A6CC-F898-49BA-A7F3-A777FC50B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0980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95C1"/>
          </a:solidFill>
          <a:ln xmlns:a="http://schemas.openxmlformats.org/drawingml/2006/main" w="0">
            <a:solidFill>
              <a:srgbClr val="6F95C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E64859-0BDF-4B52-9D1C-00BCEB042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20980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95C1"/>
          </a:solidFill>
          <a:ln xmlns:a="http://schemas.openxmlformats.org/drawingml/2006/main" w="0">
            <a:solidFill>
              <a:srgbClr val="6F95C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0154F5-6899-4298-A303-D966865E0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00400"/>
            <a:ext cx="108204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741"/>
          </a:solidFill>
          <a:ln xmlns:a="http://schemas.openxmlformats.org/drawingml/2006/main" w="11430">
            <a:solidFill>
              <a:srgbClr val="2D527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3E53FC-1834-4284-B786-341000676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671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FF8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FF8FF"/>
                </a:solidFill>
                <a:latin typeface="Aptos"/>
                <a:ea typeface="Aptos"/>
                <a:cs typeface="Aptos"/>
              </a:rPr>
              <a:t>Realtime Channels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BBB96E-1A83-43C4-8E53-828868B22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10363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3CC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3CCE8"/>
                </a:solidFill>
                <a:latin typeface="Aptos"/>
                <a:ea typeface="Aptos"/>
                <a:cs typeface="Aptos"/>
              </a:rPr>
              <a:t>• App sync channel: /api/mobile-sync/ws with per-user and per-org routing.</a:t>
            </a:r>
          </a:p>
          <a:p xmlns:a="http://schemas.openxmlformats.org/drawingml/2006/main">
            <a:pPr algn="l">
              <a:defRPr sz="1200" b="0">
                <a:solidFill>
                  <a:srgbClr val="B3CC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3CCE8"/>
                </a:solidFill>
                <a:latin typeface="Aptos"/>
                <a:ea typeface="Aptos"/>
                <a:cs typeface="Aptos"/>
              </a:rPr>
              <a:t>• Chat channel: /api/chat/ws with conversation subscriptions and participant presence.</a:t>
            </a:r>
          </a:p>
          <a:p xmlns:a="http://schemas.openxmlformats.org/drawingml/2006/main">
            <a:pPr algn="l">
              <a:defRPr sz="1200" b="0">
                <a:solidFill>
                  <a:srgbClr val="B3CC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3CCE8"/>
                </a:solidFill>
                <a:latin typeface="Aptos"/>
                <a:ea typeface="Aptos"/>
                <a:cs typeface="Aptos"/>
              </a:rPr>
              <a:t>• Redis channels (mims:realtime, mims:chat) provide multi-process fan-out.</a:t>
            </a:r>
          </a:p>
          <a:p xmlns:a="http://schemas.openxmlformats.org/drawingml/2006/main">
            <a:pPr algn="l">
              <a:defRPr sz="1200" b="0">
                <a:solidFill>
                  <a:srgbClr val="B3CC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3CCE8"/>
                </a:solidFill>
                <a:latin typeface="Aptos"/>
                <a:ea typeface="Aptos"/>
                <a:cs typeface="Aptos"/>
              </a:rPr>
              <a:t>• If Redis is unavailable, design degrades to process-local websocket delivery.</a:t>
            </a:r>
          </a:p>
          <a:p xmlns:a="http://schemas.openxmlformats.org/drawingml/2006/main">
            <a:pPr algn="l">
              <a:defRPr sz="1200" b="0">
                <a:solidFill>
                  <a:srgbClr val="B3CC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3CCE8"/>
                </a:solidFill>
                <a:latin typeface="Aptos"/>
                <a:ea typeface="Aptos"/>
                <a:cs typeface="Aptos"/>
              </a:rPr>
              <a:t>• Mobile push path stores device tokens and routes Expo push notifications from backend service.</a:t>
            </a:r>
          </a:p>
        </p:txBody>
      </p:sp>
    </p:spTree>
    <p:extLst>
      <p:ext uri="{BB962C8B-B14F-4D97-AF65-F5344CB8AC3E}">
        <p14:creationId xmlns:p14="http://schemas.microsoft.com/office/powerpoint/2010/main" val="79777735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526D01-4216-4C6B-A760-2D015BEE6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6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B93A29-E76C-4E9B-987B-F0EBD5E58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3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3FBFF"/>
                </a:solidFill>
                <a:latin typeface="Aptos Display"/>
                <a:ea typeface="Aptos Display"/>
                <a:cs typeface="Aptos Display"/>
              </a:rPr>
              <a:t>Data Domain Composition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93E854-EAD3-4211-AA82-7502DCBDF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14400"/>
            <a:ext cx="876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FC2E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FC2E7"/>
                </a:solidFill>
                <a:latin typeface="Aptos"/>
                <a:ea typeface="Aptos"/>
                <a:cs typeface="Aptos"/>
              </a:rPr>
              <a:t>Schema evolves through ordered migration files (001-025) with domain-focused expansion.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54A3F6-749D-4029-824D-CFC1B83AD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7800"/>
            <a:ext cx="3429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741"/>
          </a:solidFill>
          <a:ln xmlns:a="http://schemas.openxmlformats.org/drawingml/2006/main" w="11430">
            <a:solidFill>
              <a:srgbClr val="2D52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2F4139-DBDF-475A-8941-70853E67C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7800"/>
            <a:ext cx="3429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C2C7"/>
          </a:solidFill>
          <a:ln xmlns:a="http://schemas.openxmlformats.org/drawingml/2006/main" w="0">
            <a:solidFill>
              <a:srgbClr val="15C2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66326E-25EC-49BF-ABDD-32077BAD2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3124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FF8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EFF8FF"/>
                </a:solidFill>
                <a:latin typeface="Aptos"/>
                <a:ea typeface="Aptos"/>
                <a:cs typeface="Aptos"/>
              </a:rPr>
              <a:t>Identity + Access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69CFCB-1B28-4257-B758-788D910A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31242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3CBE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3CBE7"/>
                </a:solidFill>
                <a:latin typeface="Aptos"/>
                <a:ea typeface="Aptos"/>
                <a:cs typeface="Aptos"/>
              </a:rPr>
              <a:t>users, org access, sessions</a:t>
            </a:r>
          </a:p>
          <a:p xmlns:a="http://schemas.openxmlformats.org/drawingml/2006/main">
            <a:pPr algn="l">
              <a:defRPr sz="1125" b="0">
                <a:solidFill>
                  <a:srgbClr val="B3CBE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3CBE7"/>
                </a:solidFill>
                <a:latin typeface="Aptos"/>
                <a:ea typeface="Aptos"/>
                <a:cs typeface="Aptos"/>
              </a:rPr>
              <a:t>org SSO provider configs</a:t>
            </a:r>
          </a:p>
          <a:p xmlns:a="http://schemas.openxmlformats.org/drawingml/2006/main">
            <a:pPr algn="l">
              <a:defRPr sz="1125" b="0">
                <a:solidFill>
                  <a:srgbClr val="B3CBE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3CBE7"/>
                </a:solidFill>
                <a:latin typeface="Aptos"/>
                <a:ea typeface="Aptos"/>
                <a:cs typeface="Aptos"/>
              </a:rPr>
              <a:t>2FA and auth workflow data</a:t>
            </a:r>
          </a:p>
          <a:p xmlns:a="http://schemas.openxmlformats.org/drawingml/2006/main">
            <a:pPr algn="l">
              <a:defRPr sz="1125" b="0">
                <a:solidFill>
                  <a:srgbClr val="B3CBE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3CBE7"/>
                </a:solidFill>
                <a:latin typeface="Aptos"/>
                <a:ea typeface="Aptos"/>
                <a:cs typeface="Aptos"/>
              </a:rPr>
              <a:t>role and organisation scoping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F5CDCD-21EF-4275-8867-57B0ABBB3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447800"/>
            <a:ext cx="3429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741"/>
          </a:solidFill>
          <a:ln xmlns:a="http://schemas.openxmlformats.org/drawingml/2006/main" w="11430">
            <a:solidFill>
              <a:srgbClr val="2D527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5B9A8F-C9C4-4D6A-BAC0-C4226350A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447800"/>
            <a:ext cx="3429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BFD"/>
          </a:solidFill>
          <a:ln xmlns:a="http://schemas.openxmlformats.org/drawingml/2006/main" w="0">
            <a:solidFill>
              <a:srgbClr val="3D8BF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15B9B0-C30C-4A58-ACD7-4CCB5ADE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657350"/>
            <a:ext cx="3124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FF8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EFF8FF"/>
                </a:solidFill>
                <a:latin typeface="Aptos"/>
                <a:ea typeface="Aptos"/>
                <a:cs typeface="Aptos"/>
              </a:rPr>
              <a:t>Case Operations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1B4D10-916F-4F87-AD0F-CADA3792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19300"/>
            <a:ext cx="31242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3CBE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3CBE7"/>
                </a:solidFill>
                <a:latin typeface="Aptos"/>
                <a:ea typeface="Aptos"/>
                <a:cs typeface="Aptos"/>
              </a:rPr>
              <a:t>cases + MI/AE/PC/QA extensions</a:t>
            </a:r>
          </a:p>
          <a:p xmlns:a="http://schemas.openxmlformats.org/drawingml/2006/main">
            <a:pPr algn="l">
              <a:defRPr sz="1125" b="0">
                <a:solidFill>
                  <a:srgbClr val="B3CBE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3CBE7"/>
                </a:solidFill>
                <a:latin typeface="Aptos"/>
                <a:ea typeface="Aptos"/>
                <a:cs typeface="Aptos"/>
              </a:rPr>
              <a:t>contacts, comments, transitions</a:t>
            </a:r>
          </a:p>
          <a:p xmlns:a="http://schemas.openxmlformats.org/drawingml/2006/main">
            <a:pPr algn="l">
              <a:defRPr sz="1125" b="0">
                <a:solidFill>
                  <a:srgbClr val="B3CBE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3CBE7"/>
                </a:solidFill>
                <a:latin typeface="Aptos"/>
                <a:ea typeface="Aptos"/>
                <a:cs typeface="Aptos"/>
              </a:rPr>
              <a:t>inbox workflow and status</a:t>
            </a:r>
          </a:p>
          <a:p xmlns:a="http://schemas.openxmlformats.org/drawingml/2006/main">
            <a:pPr algn="l">
              <a:defRPr sz="1125" b="0">
                <a:solidFill>
                  <a:srgbClr val="B3CBE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3CBE7"/>
                </a:solidFill>
                <a:latin typeface="Aptos"/>
                <a:ea typeface="Aptos"/>
                <a:cs typeface="Aptos"/>
              </a:rPr>
              <a:t>response and transmission traces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C530CE-D2F9-4A49-B382-32891586C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47800"/>
            <a:ext cx="3429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741"/>
          </a:solidFill>
          <a:ln xmlns:a="http://schemas.openxmlformats.org/drawingml/2006/main" w="11430">
            <a:solidFill>
              <a:srgbClr val="2D527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597075-41C0-4770-96C6-D985D5D58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47800"/>
            <a:ext cx="3429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A2E"/>
          </a:solidFill>
          <a:ln xmlns:a="http://schemas.openxmlformats.org/drawingml/2006/main" w="0">
            <a:solidFill>
              <a:srgbClr val="F39A2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D20D10-3954-4C3E-A753-A569CB91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57350"/>
            <a:ext cx="3124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FF8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EFF8FF"/>
                </a:solidFill>
                <a:latin typeface="Aptos"/>
                <a:ea typeface="Aptos"/>
                <a:cs typeface="Aptos"/>
              </a:rPr>
              <a:t>Content + Reports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50D16A-C4F3-4C2E-A667-BD1C33395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19300"/>
            <a:ext cx="31242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3CBE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3CBE7"/>
                </a:solidFill>
                <a:latin typeface="Aptos"/>
                <a:ea typeface="Aptos"/>
                <a:cs typeface="Aptos"/>
              </a:rPr>
              <a:t>CM docs/modules/templates/faqs</a:t>
            </a:r>
          </a:p>
          <a:p xmlns:a="http://schemas.openxmlformats.org/drawingml/2006/main">
            <a:pPr algn="l">
              <a:defRPr sz="1125" b="0">
                <a:solidFill>
                  <a:srgbClr val="B3CBE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3CBE7"/>
                </a:solidFill>
                <a:latin typeface="Aptos"/>
                <a:ea typeface="Aptos"/>
                <a:cs typeface="Aptos"/>
              </a:rPr>
              <a:t>content intelligence structures</a:t>
            </a:r>
          </a:p>
          <a:p xmlns:a="http://schemas.openxmlformats.org/drawingml/2006/main">
            <a:pPr algn="l">
              <a:defRPr sz="1125" b="0">
                <a:solidFill>
                  <a:srgbClr val="B3CBE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3CBE7"/>
                </a:solidFill>
                <a:latin typeface="Aptos"/>
                <a:ea typeface="Aptos"/>
                <a:cs typeface="Aptos"/>
              </a:rPr>
              <a:t>report module and datasets</a:t>
            </a:r>
          </a:p>
          <a:p xmlns:a="http://schemas.openxmlformats.org/drawingml/2006/main">
            <a:pPr algn="l">
              <a:defRPr sz="1125" b="0">
                <a:solidFill>
                  <a:srgbClr val="B3CBE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3CBE7"/>
                </a:solidFill>
                <a:latin typeface="Aptos"/>
                <a:ea typeface="Aptos"/>
                <a:cs typeface="Aptos"/>
              </a:rPr>
              <a:t>admin report access controls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7C1A7E-FEB3-418F-AA4C-C84D66ADD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05250"/>
            <a:ext cx="3429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741"/>
          </a:solidFill>
          <a:ln xmlns:a="http://schemas.openxmlformats.org/drawingml/2006/main" w="11430">
            <a:solidFill>
              <a:srgbClr val="2D527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00EF4A-82D4-4A70-8F75-6C8C059EC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05250"/>
            <a:ext cx="3429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7DFF"/>
          </a:solidFill>
          <a:ln xmlns:a="http://schemas.openxmlformats.org/drawingml/2006/main" w="0">
            <a:solidFill>
              <a:srgbClr val="9A7D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49D585-0441-4EA4-B2B7-44BBC21A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114800"/>
            <a:ext cx="3124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FF8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EFF8FF"/>
                </a:solidFill>
                <a:latin typeface="Aptos"/>
                <a:ea typeface="Aptos"/>
                <a:cs typeface="Aptos"/>
              </a:rPr>
              <a:t>Observability + Governance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48ADE2-A559-4ADD-8A05-F5554841C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476750"/>
            <a:ext cx="31242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3CBE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3CBE7"/>
                </a:solidFill>
                <a:latin typeface="Aptos"/>
                <a:ea typeface="Aptos"/>
                <a:cs typeface="Aptos"/>
              </a:rPr>
              <a:t>audit logs and login audit</a:t>
            </a:r>
          </a:p>
          <a:p xmlns:a="http://schemas.openxmlformats.org/drawingml/2006/main">
            <a:pPr algn="l">
              <a:defRPr sz="1125" b="0">
                <a:solidFill>
                  <a:srgbClr val="B3CBE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3CBE7"/>
                </a:solidFill>
                <a:latin typeface="Aptos"/>
                <a:ea typeface="Aptos"/>
                <a:cs typeface="Aptos"/>
              </a:rPr>
              <a:t>policy and DPPR tracking</a:t>
            </a:r>
          </a:p>
          <a:p xmlns:a="http://schemas.openxmlformats.org/drawingml/2006/main">
            <a:pPr algn="l">
              <a:defRPr sz="1125" b="0">
                <a:solidFill>
                  <a:srgbClr val="B3CBE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3CBE7"/>
                </a:solidFill>
                <a:latin typeface="Aptos"/>
                <a:ea typeface="Aptos"/>
                <a:cs typeface="Aptos"/>
              </a:rPr>
              <a:t>service logs and telemetry</a:t>
            </a:r>
          </a:p>
          <a:p xmlns:a="http://schemas.openxmlformats.org/drawingml/2006/main">
            <a:pPr algn="l">
              <a:defRPr sz="1125" b="0">
                <a:solidFill>
                  <a:srgbClr val="B3CBE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3CBE7"/>
                </a:solidFill>
                <a:latin typeface="Aptos"/>
                <a:ea typeface="Aptos"/>
                <a:cs typeface="Aptos"/>
              </a:rPr>
              <a:t>scheduler + SLA governance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6B255A-BFE9-4BC2-9290-79A02321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5250"/>
            <a:ext cx="3429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741"/>
          </a:solidFill>
          <a:ln xmlns:a="http://schemas.openxmlformats.org/drawingml/2006/main" w="11430">
            <a:solidFill>
              <a:srgbClr val="2D527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B20E1B-FD19-4DAA-9002-D45E29E1F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5250"/>
            <a:ext cx="3429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C78C"/>
          </a:solidFill>
          <a:ln xmlns:a="http://schemas.openxmlformats.org/drawingml/2006/main" w="0">
            <a:solidFill>
              <a:srgbClr val="28C78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2E223A-66CE-4874-83A3-BE044A29A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14800"/>
            <a:ext cx="3124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FF8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EFF8FF"/>
                </a:solidFill>
                <a:latin typeface="Aptos"/>
                <a:ea typeface="Aptos"/>
                <a:cs typeface="Aptos"/>
              </a:rPr>
              <a:t>Omnichannel Support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F3B5A6-8F1F-4EFF-A2F2-4196DEC00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76750"/>
            <a:ext cx="31242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3CBE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3CBE7"/>
                </a:solidFill>
                <a:latin typeface="Aptos"/>
                <a:ea typeface="Aptos"/>
                <a:cs typeface="Aptos"/>
              </a:rPr>
              <a:t>notifications and chat runtime</a:t>
            </a:r>
          </a:p>
          <a:p xmlns:a="http://schemas.openxmlformats.org/drawingml/2006/main">
            <a:pPr algn="l">
              <a:defRPr sz="1125" b="0">
                <a:solidFill>
                  <a:srgbClr val="B3CBE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3CBE7"/>
                </a:solidFill>
                <a:latin typeface="Aptos"/>
                <a:ea typeface="Aptos"/>
                <a:cs typeface="Aptos"/>
              </a:rPr>
              <a:t>mobile sync read receipts</a:t>
            </a:r>
          </a:p>
          <a:p xmlns:a="http://schemas.openxmlformats.org/drawingml/2006/main">
            <a:pPr algn="l">
              <a:defRPr sz="1125" b="0">
                <a:solidFill>
                  <a:srgbClr val="B3CBE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3CBE7"/>
                </a:solidFill>
                <a:latin typeface="Aptos"/>
                <a:ea typeface="Aptos"/>
                <a:cs typeface="Aptos"/>
              </a:rPr>
              <a:t>push device registry and history</a:t>
            </a:r>
          </a:p>
          <a:p xmlns:a="http://schemas.openxmlformats.org/drawingml/2006/main">
            <a:pPr algn="l">
              <a:defRPr sz="1125" b="0">
                <a:solidFill>
                  <a:srgbClr val="B3CBE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3CBE7"/>
                </a:solidFill>
                <a:latin typeface="Aptos"/>
                <a:ea typeface="Aptos"/>
                <a:cs typeface="Aptos"/>
              </a:rPr>
              <a:t>integration exchange records</a:t>
            </a:r>
          </a:p>
        </p:txBody>
      </p:sp>
    </p:spTree>
    <p:extLst>
      <p:ext uri="{BB962C8B-B14F-4D97-AF65-F5344CB8AC3E}">
        <p14:creationId xmlns:p14="http://schemas.microsoft.com/office/powerpoint/2010/main" val="125607395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7CAB99-8189-430B-9F56-0DF87CD1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6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4A47BD-14E2-4F83-8216-2768F053A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971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3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3FBFF"/>
                </a:solidFill>
                <a:latin typeface="Aptos Display"/>
                <a:ea typeface="Aptos Display"/>
                <a:cs typeface="Aptos Display"/>
              </a:rPr>
              <a:t>Background Processing And Runtime Controls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183072-F8F1-48BA-A291-27485508B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95400"/>
            <a:ext cx="5143500" cy="478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741"/>
          </a:solidFill>
          <a:ln xmlns:a="http://schemas.openxmlformats.org/drawingml/2006/main" w="11430">
            <a:solidFill>
              <a:srgbClr val="2D527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F1746E-4B42-4A2B-AD39-C5FCC4692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811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FF8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FF8FF"/>
                </a:solidFill>
                <a:latin typeface="Aptos"/>
                <a:ea typeface="Aptos"/>
                <a:cs typeface="Aptos"/>
              </a:rPr>
              <a:t>Job Orchestration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3E198F-4023-4AEA-B0E7-DBAFFB5E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38350"/>
            <a:ext cx="45148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2CAE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2CAE7"/>
                </a:solidFill>
                <a:latin typeface="Aptos"/>
                <a:ea typeface="Aptos"/>
                <a:cs typeface="Aptos"/>
              </a:rPr>
              <a:t>• Named cron jobs in scheduler service</a:t>
            </a:r>
          </a:p>
          <a:p xmlns:a="http://schemas.openxmlformats.org/drawingml/2006/main">
            <a:pPr algn="l">
              <a:defRPr sz="1200" b="0">
                <a:solidFill>
                  <a:srgbClr val="B2CAE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2CAE7"/>
                </a:solidFill>
                <a:latin typeface="Aptos"/>
                <a:ea typeface="Aptos"/>
                <a:cs typeface="Aptos"/>
              </a:rPr>
              <a:t>• Export checks every 15 minutes</a:t>
            </a:r>
          </a:p>
          <a:p xmlns:a="http://schemas.openxmlformats.org/drawingml/2006/main">
            <a:pPr algn="l">
              <a:defRPr sz="1200" b="0">
                <a:solidFill>
                  <a:srgbClr val="B2CAE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2CAE7"/>
                </a:solidFill>
                <a:latin typeface="Aptos"/>
                <a:ea typeface="Aptos"/>
                <a:cs typeface="Aptos"/>
              </a:rPr>
              <a:t>• SLA refresh jobs every 30 minutes</a:t>
            </a:r>
          </a:p>
          <a:p xmlns:a="http://schemas.openxmlformats.org/drawingml/2006/main">
            <a:pPr algn="l">
              <a:defRPr sz="1200" b="0">
                <a:solidFill>
                  <a:srgbClr val="B2CAE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2CAE7"/>
                </a:solidFill>
                <a:latin typeface="Aptos"/>
                <a:ea typeface="Aptos"/>
                <a:cs typeface="Aptos"/>
              </a:rPr>
              <a:t>• Retry loops for notification delivery</a:t>
            </a:r>
          </a:p>
          <a:p xmlns:a="http://schemas.openxmlformats.org/drawingml/2006/main">
            <a:pPr algn="l">
              <a:defRPr sz="1200" b="0">
                <a:solidFill>
                  <a:srgbClr val="B2CAE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2CAE7"/>
                </a:solidFill>
                <a:latin typeface="Aptos"/>
                <a:ea typeface="Aptos"/>
                <a:cs typeface="Aptos"/>
              </a:rPr>
              <a:t>• Daily retention and archival routines</a:t>
            </a:r>
          </a:p>
          <a:p xmlns:a="http://schemas.openxmlformats.org/drawingml/2006/main">
            <a:pPr algn="l">
              <a:defRPr sz="1200" b="0">
                <a:solidFill>
                  <a:srgbClr val="B2CAE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2CAE7"/>
                </a:solidFill>
                <a:latin typeface="Aptos"/>
                <a:ea typeface="Aptos"/>
                <a:cs typeface="Aptos"/>
              </a:rPr>
              <a:t>• DPPR scheduler initialization at startup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0045D8-950E-480D-9471-D79CFDCA1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38650"/>
            <a:ext cx="45148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B"/>
          </a:solidFill>
          <a:ln xmlns:a="http://schemas.openxmlformats.org/drawingml/2006/main" w="10478">
            <a:solidFill>
              <a:srgbClr val="335C8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6AB7D2-BF31-4060-96DF-223FEFD9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19650"/>
            <a:ext cx="4171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EC0E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EC0E4"/>
                </a:solidFill>
                <a:latin typeface="Aptos"/>
                <a:ea typeface="Aptos"/>
                <a:cs typeface="Aptos"/>
              </a:rPr>
              <a:t>Failure behavior: each job execution writes success/failure events; exceptions are contained and do not crash the scheduler loop.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9F0BB6-8B84-44C6-81E7-BDBD7CB9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295400"/>
            <a:ext cx="5334000" cy="478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741"/>
          </a:solidFill>
          <a:ln xmlns:a="http://schemas.openxmlformats.org/drawingml/2006/main" w="11430">
            <a:solidFill>
              <a:srgbClr val="2D527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9866BE-54D0-4CB4-BAAD-B211EB4E7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58115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FF8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FF8FF"/>
                </a:solidFill>
                <a:latin typeface="Aptos"/>
                <a:ea typeface="Aptos"/>
                <a:cs typeface="Aptos"/>
              </a:rPr>
              <a:t>Performance And Scalability Levers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D24CBA-2129-42EC-85F0-4E134D5C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38350"/>
            <a:ext cx="48006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2CAE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2CAE7"/>
                </a:solidFill>
                <a:latin typeface="Aptos"/>
                <a:ea typeface="Aptos"/>
                <a:cs typeface="Aptos"/>
              </a:rPr>
              <a:t>• MySQL pool configuration with bounded connections and timeouts</a:t>
            </a:r>
          </a:p>
          <a:p xmlns:a="http://schemas.openxmlformats.org/drawingml/2006/main">
            <a:pPr algn="l">
              <a:defRPr sz="1200" b="0">
                <a:solidFill>
                  <a:srgbClr val="B2CAE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2CAE7"/>
                </a:solidFill>
                <a:latin typeface="Aptos"/>
                <a:ea typeface="Aptos"/>
                <a:cs typeface="Aptos"/>
              </a:rPr>
              <a:t>• Redis-backed rate limiter stores, cache, and pub/sub fan-out</a:t>
            </a:r>
          </a:p>
          <a:p xmlns:a="http://schemas.openxmlformats.org/drawingml/2006/main">
            <a:pPr algn="l">
              <a:defRPr sz="1200" b="0">
                <a:solidFill>
                  <a:srgbClr val="B2CAE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2CAE7"/>
                </a:solidFill>
                <a:latin typeface="Aptos"/>
                <a:ea typeface="Aptos"/>
                <a:cs typeface="Aptos"/>
              </a:rPr>
              <a:t>• Dual API surface (/api and /api/v1) to protect existing clients during evolution</a:t>
            </a:r>
          </a:p>
          <a:p xmlns:a="http://schemas.openxmlformats.org/drawingml/2006/main">
            <a:pPr algn="l">
              <a:defRPr sz="1200" b="0">
                <a:solidFill>
                  <a:srgbClr val="B2CAE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2CAE7"/>
                </a:solidFill>
                <a:latin typeface="Aptos"/>
                <a:ea typeface="Aptos"/>
                <a:cs typeface="Aptos"/>
              </a:rPr>
              <a:t>• DB-backed health checks for real liveness signal</a:t>
            </a:r>
          </a:p>
          <a:p xmlns:a="http://schemas.openxmlformats.org/drawingml/2006/main">
            <a:pPr algn="l">
              <a:defRPr sz="1200" b="0">
                <a:solidFill>
                  <a:srgbClr val="B2CAE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2CAE7"/>
                </a:solidFill>
                <a:latin typeface="Aptos"/>
                <a:ea typeface="Aptos"/>
                <a:cs typeface="Aptos"/>
              </a:rPr>
              <a:t>• Child-process workers isolate long-running/background responsibilities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E88F31-C9CC-4B5E-A13A-C43EA0D1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00500"/>
            <a:ext cx="48006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B"/>
          </a:solidFill>
          <a:ln xmlns:a="http://schemas.openxmlformats.org/drawingml/2006/main" w="10478">
            <a:solidFill>
              <a:srgbClr val="335C8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E931DE-89C8-4ED5-9289-87C8B5767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514850"/>
            <a:ext cx="44577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EC0E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EC0E4"/>
                </a:solidFill>
                <a:latin typeface="Aptos"/>
                <a:ea typeface="Aptos"/>
                <a:cs typeface="Aptos"/>
              </a:rPr>
              <a:t>Current gap to close: operational SLO dashboards (latency/error/saturation trends) are not inferred from code and should be instrumented in runtime monitoring stack.</a:t>
            </a:r>
          </a:p>
        </p:txBody>
      </p:sp>
    </p:spTree>
    <p:extLst>
      <p:ext uri="{BB962C8B-B14F-4D97-AF65-F5344CB8AC3E}">
        <p14:creationId xmlns:p14="http://schemas.microsoft.com/office/powerpoint/2010/main" val="121484552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AAF4AA-B33E-4829-9E17-F5457CA66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6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385627-0295-406F-8F72-4B63160FD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666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3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3FBFF"/>
                </a:solidFill>
                <a:latin typeface="Aptos Display"/>
                <a:ea typeface="Aptos Display"/>
                <a:cs typeface="Aptos Display"/>
              </a:rPr>
              <a:t>System Design Readout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828616-2753-4920-83E5-34202EBD6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66850"/>
            <a:ext cx="24955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741"/>
          </a:solidFill>
          <a:ln xmlns:a="http://schemas.openxmlformats.org/drawingml/2006/main" w="11430">
            <a:solidFill>
              <a:srgbClr val="2D527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80DEC7-E0D9-45B5-9042-065C2C474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66850"/>
            <a:ext cx="2495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C2C7"/>
          </a:solidFill>
          <a:ln xmlns:a="http://schemas.openxmlformats.org/drawingml/2006/main" w="0">
            <a:solidFill>
              <a:srgbClr val="15C2C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65139F-2B39-4A0A-895B-7E3FAD629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FF8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EFF8FF"/>
                </a:solidFill>
                <a:latin typeface="Aptos Display"/>
                <a:ea typeface="Aptos Display"/>
                <a:cs typeface="Aptos Display"/>
              </a:rPr>
              <a:t>75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445891-AA90-424C-BCFB-CF09AE370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C4E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C4E3"/>
                </a:solidFill>
                <a:latin typeface="Aptos"/>
                <a:ea typeface="Aptos"/>
                <a:cs typeface="Aptos"/>
              </a:rPr>
              <a:t>Backend route files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A5BA85-2B6B-42B3-B01C-8DBF3EA82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466850"/>
            <a:ext cx="24955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741"/>
          </a:solidFill>
          <a:ln xmlns:a="http://schemas.openxmlformats.org/drawingml/2006/main" w="11430">
            <a:solidFill>
              <a:srgbClr val="2D527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22C389-5B43-44F8-9176-10767273B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466850"/>
            <a:ext cx="2495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BFD"/>
          </a:solidFill>
          <a:ln xmlns:a="http://schemas.openxmlformats.org/drawingml/2006/main" w="0">
            <a:solidFill>
              <a:srgbClr val="3D8BF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D96FC2-F05E-453C-A588-9863D204B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75260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FF8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EFF8FF"/>
                </a:solidFill>
                <a:latin typeface="Aptos Display"/>
                <a:ea typeface="Aptos Display"/>
                <a:cs typeface="Aptos Display"/>
              </a:rPr>
              <a:t>48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C064E1-5456-4207-B60D-E02063C1A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3360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C4E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C4E3"/>
                </a:solidFill>
                <a:latin typeface="Aptos"/>
                <a:ea typeface="Aptos"/>
                <a:cs typeface="Aptos"/>
              </a:rPr>
              <a:t>Backend service files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CB056C-A093-4EB5-8D90-869B9A2F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466850"/>
            <a:ext cx="24955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741"/>
          </a:solidFill>
          <a:ln xmlns:a="http://schemas.openxmlformats.org/drawingml/2006/main" w="11430">
            <a:solidFill>
              <a:srgbClr val="2D527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DE9672-7A52-4C15-98A4-FED38155A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466850"/>
            <a:ext cx="2495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A2E"/>
          </a:solidFill>
          <a:ln xmlns:a="http://schemas.openxmlformats.org/drawingml/2006/main" w="0">
            <a:solidFill>
              <a:srgbClr val="F39A2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491045-45D4-4407-9848-3C79AB99F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75260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FF8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EFF8FF"/>
                </a:solidFill>
                <a:latin typeface="Aptos Display"/>
                <a:ea typeface="Aptos Display"/>
                <a:cs typeface="Aptos Display"/>
              </a:rPr>
              <a:t>12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2F70FD-16C9-40F8-99EB-3D8C2495A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3360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C4E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C4E3"/>
                </a:solidFill>
                <a:latin typeface="Aptos"/>
                <a:ea typeface="Aptos"/>
                <a:cs typeface="Aptos"/>
              </a:rPr>
              <a:t>Middleware controls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A38AA4-3D72-4CEE-AC09-A8720919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466850"/>
            <a:ext cx="24955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741"/>
          </a:solidFill>
          <a:ln xmlns:a="http://schemas.openxmlformats.org/drawingml/2006/main" w="11430">
            <a:solidFill>
              <a:srgbClr val="2D527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CE391A-EBB3-468D-8C05-F89FD22E4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466850"/>
            <a:ext cx="2495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7DFF"/>
          </a:solidFill>
          <a:ln xmlns:a="http://schemas.openxmlformats.org/drawingml/2006/main" w="0">
            <a:solidFill>
              <a:srgbClr val="9A7D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52491F-5D97-48BB-957D-156F13B3F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75260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FF8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EFF8FF"/>
                </a:solidFill>
                <a:latin typeface="Aptos Display"/>
                <a:ea typeface="Aptos Display"/>
                <a:cs typeface="Aptos Display"/>
              </a:rPr>
              <a:t>25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7E742C-90DE-46E8-ABE8-77EFC206C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13360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C4E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C4E3"/>
                </a:solidFill>
                <a:latin typeface="Aptos"/>
                <a:ea typeface="Aptos"/>
                <a:cs typeface="Aptos"/>
              </a:rPr>
              <a:t>Migration scripts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542F02-E288-44FF-9DD4-E9915C7BE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71800"/>
            <a:ext cx="1104900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741"/>
          </a:solidFill>
          <a:ln xmlns:a="http://schemas.openxmlformats.org/drawingml/2006/main" w="11430">
            <a:solidFill>
              <a:srgbClr val="2D527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03D64D-4CC0-49A3-B106-724159D74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419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FF8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FF8FF"/>
                </a:solidFill>
                <a:latin typeface="Aptos"/>
                <a:ea typeface="Aptos"/>
                <a:cs typeface="Aptos"/>
              </a:rPr>
              <a:t>Immediate Engineering Actions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CDEA61-28A1-4C38-9163-076A47488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103632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2CAE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2CAE7"/>
                </a:solidFill>
                <a:latin typeface="Aptos"/>
                <a:ea typeface="Aptos"/>
                <a:cs typeface="Aptos"/>
              </a:rPr>
              <a:t>• Move CSP from report-only to enforce mode after controlled policy validation.</a:t>
            </a:r>
          </a:p>
          <a:p xmlns:a="http://schemas.openxmlformats.org/drawingml/2006/main">
            <a:pPr algn="l">
              <a:defRPr sz="1200" b="0">
                <a:solidFill>
                  <a:srgbClr val="B2CAE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2CAE7"/>
                </a:solidFill>
                <a:latin typeface="Aptos"/>
                <a:ea typeface="Aptos"/>
                <a:cs typeface="Aptos"/>
              </a:rPr>
              <a:t>• Formalize deployment topology for multi-node runtime with Redis and DB HA assumptions.</a:t>
            </a:r>
          </a:p>
          <a:p xmlns:a="http://schemas.openxmlformats.org/drawingml/2006/main">
            <a:pPr algn="l">
              <a:defRPr sz="1200" b="0">
                <a:solidFill>
                  <a:srgbClr val="B2CAE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2CAE7"/>
                </a:solidFill>
                <a:latin typeface="Aptos"/>
                <a:ea typeface="Aptos"/>
                <a:cs typeface="Aptos"/>
              </a:rPr>
              <a:t>• Add runtime SLO dashboarding for API, scheduler, and realtime channels.</a:t>
            </a:r>
          </a:p>
          <a:p xmlns:a="http://schemas.openxmlformats.org/drawingml/2006/main">
            <a:pPr algn="l">
              <a:defRPr sz="1200" b="0">
                <a:solidFill>
                  <a:srgbClr val="B2CAE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2CAE7"/>
                </a:solidFill>
                <a:latin typeface="Aptos"/>
                <a:ea typeface="Aptos"/>
                <a:cs typeface="Aptos"/>
              </a:rPr>
              <a:t>• Expand integration-path regression suites and mobile push delivery observability.</a:t>
            </a:r>
          </a:p>
          <a:p xmlns:a="http://schemas.openxmlformats.org/drawingml/2006/main">
            <a:pPr algn="l">
              <a:defRPr sz="1200" b="0">
                <a:solidFill>
                  <a:srgbClr val="B2CAE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2CAE7"/>
                </a:solidFill>
                <a:latin typeface="Aptos"/>
                <a:ea typeface="Aptos"/>
                <a:cs typeface="Aptos"/>
              </a:rPr>
              <a:t>• Produce sign-off evidence package for security and audit pathways per release.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C848DB-DCB3-4F05-93DE-16EBE8F8E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91150"/>
            <a:ext cx="1036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DC0E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DC0E5"/>
                </a:solidFill>
                <a:latin typeface="Aptos"/>
                <a:ea typeface="Aptos"/>
                <a:cs typeface="Aptos"/>
              </a:rPr>
              <a:t>Conclusion: current implementation has strong structural foundations for regulated medical information workflows, with remaining work concentrated in operational telemetry and deployment-grade hardening.</a:t>
            </a:r>
          </a:p>
        </p:txBody>
      </p:sp>
    </p:spTree>
    <p:extLst>
      <p:ext uri="{BB962C8B-B14F-4D97-AF65-F5344CB8AC3E}">
        <p14:creationId xmlns:p14="http://schemas.microsoft.com/office/powerpoint/2010/main" val="14707795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2026-05-09T11:58:37.8220000Z</dcterms:created>
  <dcterms:modified xsi:type="dcterms:W3CDTF">2026-05-09T11:58:37.8220000Z</dcterms:modified>
</coreProperties>
</file>
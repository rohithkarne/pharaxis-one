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d60c45ff5849c7" /><Relationship Type="http://schemas.openxmlformats.org/officeDocument/2006/relationships/extended-properties" Target="/docProps/app.xml" Id="Rdcdaa3ba7d504e42" /><Relationship Type="http://schemas.openxmlformats.org/officeDocument/2006/relationships/officeDocument" Target="/ppt/presentation.xml" Id="R313863ddd9a349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49959f067446e5"/>
  </p:sldMasterIdLst>
  <p:notesMasterIdLst>
    <p:notesMasterId xmlns:r="http://schemas.openxmlformats.org/officeDocument/2006/relationships" r:id="R2694d0f35dea4645"/>
  </p:notesMasterIdLst>
  <p:sldIdLst>
    <p:sldId xmlns:r="http://schemas.openxmlformats.org/officeDocument/2006/relationships" id="256" r:id="R0afe10cf9463410d"/>
    <p:sldId xmlns:r="http://schemas.openxmlformats.org/officeDocument/2006/relationships" id="257" r:id="Rc6b5b745b1ff483c"/>
    <p:sldId xmlns:r="http://schemas.openxmlformats.org/officeDocument/2006/relationships" id="258" r:id="Rdd895114374e4aa3"/>
    <p:sldId xmlns:r="http://schemas.openxmlformats.org/officeDocument/2006/relationships" id="259" r:id="Rcdfafb0eb9254a76"/>
    <p:sldId xmlns:r="http://schemas.openxmlformats.org/officeDocument/2006/relationships" id="260" r:id="Ra06fb6be3c6c4512"/>
    <p:sldId xmlns:r="http://schemas.openxmlformats.org/officeDocument/2006/relationships" id="261" r:id="Rf958c7c77ed24f9a"/>
    <p:sldId xmlns:r="http://schemas.openxmlformats.org/officeDocument/2006/relationships" id="262" r:id="Rb28d010560654acc"/>
    <p:sldId xmlns:r="http://schemas.openxmlformats.org/officeDocument/2006/relationships" id="263" r:id="R3c8148e14e8b43f2"/>
    <p:sldId xmlns:r="http://schemas.openxmlformats.org/officeDocument/2006/relationships" id="264" r:id="Rfe0a196b70c64a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9959f067446e5" /><Relationship Type="http://schemas.openxmlformats.org/officeDocument/2006/relationships/theme" Target="/ppt/theme/theme1.xml" Id="R9e33784f05a449d1" /><Relationship Type="http://schemas.openxmlformats.org/officeDocument/2006/relationships/notesMaster" Target="/ppt/notesMasters/notesMaster1.xml" Id="R2694d0f35dea4645" /><Relationship Type="http://schemas.openxmlformats.org/officeDocument/2006/relationships/presProps" Target="/ppt/presProps.xml" Id="Rfe28906c5d394c19" /><Relationship Type="http://schemas.openxmlformats.org/officeDocument/2006/relationships/viewProps" Target="/ppt/viewProps.xml" Id="Rd558cb28e1aa45f0" /><Relationship Type="http://schemas.openxmlformats.org/officeDocument/2006/relationships/tableStyles" Target="/ppt/tableStyles.xml" Id="R8df05e3302a0449b" /><Relationship Type="http://schemas.openxmlformats.org/officeDocument/2006/relationships/slide" Target="/ppt/slides/slide1.xml" Id="R0afe10cf9463410d" /><Relationship Type="http://schemas.openxmlformats.org/officeDocument/2006/relationships/slide" Target="/ppt/slides/slide2.xml" Id="Rc6b5b745b1ff483c" /><Relationship Type="http://schemas.openxmlformats.org/officeDocument/2006/relationships/slide" Target="/ppt/slides/slide3.xml" Id="Rdd895114374e4aa3" /><Relationship Type="http://schemas.openxmlformats.org/officeDocument/2006/relationships/slide" Target="/ppt/slides/slide4.xml" Id="Rcdfafb0eb9254a76" /><Relationship Type="http://schemas.openxmlformats.org/officeDocument/2006/relationships/slide" Target="/ppt/slides/slide5.xml" Id="Ra06fb6be3c6c4512" /><Relationship Type="http://schemas.openxmlformats.org/officeDocument/2006/relationships/slide" Target="/ppt/slides/slide6.xml" Id="Rf958c7c77ed24f9a" /><Relationship Type="http://schemas.openxmlformats.org/officeDocument/2006/relationships/slide" Target="/ppt/slides/slide7.xml" Id="Rb28d010560654acc" /><Relationship Type="http://schemas.openxmlformats.org/officeDocument/2006/relationships/slide" Target="/ppt/slides/slide8.xml" Id="R3c8148e14e8b43f2" /><Relationship Type="http://schemas.openxmlformats.org/officeDocument/2006/relationships/slide" Target="/ppt/slides/slide9.xml" Id="Rfe0a196b70c64a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cbd1df366ba4c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e80268f3c148de" /><Relationship Type="http://schemas.openxmlformats.org/officeDocument/2006/relationships/notesMaster" Target="/ppt/notesMasters/notesMaster1.xml" Id="R191686bd94b148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b58e6c6e6d4791" /><Relationship Type="http://schemas.openxmlformats.org/officeDocument/2006/relationships/notesMaster" Target="/ppt/notesMasters/notesMaster1.xml" Id="Rf7fc8873a63548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95fd7b3a3a43eb" /><Relationship Type="http://schemas.openxmlformats.org/officeDocument/2006/relationships/notesMaster" Target="/ppt/notesMasters/notesMaster1.xml" Id="R813b2c0b987941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c9cc2d505f45a3" /><Relationship Type="http://schemas.openxmlformats.org/officeDocument/2006/relationships/notesMaster" Target="/ppt/notesMasters/notesMaster1.xml" Id="R7098b705158942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19f4996a644a27" /><Relationship Type="http://schemas.openxmlformats.org/officeDocument/2006/relationships/notesMaster" Target="/ppt/notesMasters/notesMaster1.xml" Id="Rf60dc9cd519244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c132564ac4c83" /><Relationship Type="http://schemas.openxmlformats.org/officeDocument/2006/relationships/notesMaster" Target="/ppt/notesMasters/notesMaster1.xml" Id="Rf3cdf151b99740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44d1733da04fc8" /><Relationship Type="http://schemas.openxmlformats.org/officeDocument/2006/relationships/notesMaster" Target="/ppt/notesMasters/notesMaster1.xml" Id="R03be8864bcfc4c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a61822130a46df" /><Relationship Type="http://schemas.openxmlformats.org/officeDocument/2006/relationships/notesMaster" Target="/ppt/notesMasters/notesMaster1.xml" Id="Rf72eea93f05f4e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2f688d16914859" /><Relationship Type="http://schemas.openxmlformats.org/officeDocument/2006/relationships/notesMaster" Target="/ppt/notesMasters/notesMaster1.xml" Id="R1c7ce00f096948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a380793824a1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9fa51fa5afc47df" /><Relationship Type="http://schemas.openxmlformats.org/officeDocument/2006/relationships/slideLayout" Target="/ppt/slideLayouts/slideLayout2.xml" Id="R8311a02bd4b14c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11a02bd4b14c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c59a464cbd4d98" /><Relationship Type="http://schemas.openxmlformats.org/officeDocument/2006/relationships/notesSlide" Target="/ppt/notesSlides/notesSlide1.xml" Id="R516f7c54e9ad47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7748992de74ea0" /><Relationship Type="http://schemas.openxmlformats.org/officeDocument/2006/relationships/notesSlide" Target="/ppt/notesSlides/notesSlide2.xml" Id="R88bafbbf167745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1835da3c954adc" /><Relationship Type="http://schemas.openxmlformats.org/officeDocument/2006/relationships/notesSlide" Target="/ppt/notesSlides/notesSlide3.xml" Id="R3299a0a34ade47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6c564571a64b33" /><Relationship Type="http://schemas.openxmlformats.org/officeDocument/2006/relationships/notesSlide" Target="/ppt/notesSlides/notesSlide4.xml" Id="R676c1eb898c54d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fa0af6e0fa4e2d" /><Relationship Type="http://schemas.openxmlformats.org/officeDocument/2006/relationships/notesSlide" Target="/ppt/notesSlides/notesSlide5.xml" Id="R7c956646c4954d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a299994dc844bb" /><Relationship Type="http://schemas.openxmlformats.org/officeDocument/2006/relationships/notesSlide" Target="/ppt/notesSlides/notesSlide6.xml" Id="R8ef841af5d184f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48e4b7209a46c5" /><Relationship Type="http://schemas.openxmlformats.org/officeDocument/2006/relationships/notesSlide" Target="/ppt/notesSlides/notesSlide7.xml" Id="Ra8a7379dce7042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758ef655a747eb" /><Relationship Type="http://schemas.openxmlformats.org/officeDocument/2006/relationships/notesSlide" Target="/ppt/notesSlides/notesSlide8.xml" Id="Rb36814b0917d46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41191635434e88" /><Relationship Type="http://schemas.openxmlformats.org/officeDocument/2006/relationships/notesSlide" Target="/ppt/notesSlides/notesSlide9.xml" Id="Rfb8f78c5abde423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E39AD-5835-45C1-94E4-15378D72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3D51C-806D-4EEA-ADAC-A8873DF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5E5F7-9FC1-4264-BD64-C265EEED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1B60B-1A1E-4FEE-9678-A7E0B11B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0F2747"/>
                </a:solidFill>
                <a:latin typeface="Aptos Display"/>
                <a:ea typeface="Aptos Display"/>
                <a:cs typeface="Aptos Display"/>
              </a:rPr>
              <a:t>MIMS APPLICATION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D4A06-6120-4B21-B181-5F2FF514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571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5FA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5FA8"/>
                </a:solidFill>
                <a:latin typeface="Aptos"/>
                <a:ea typeface="Aptos"/>
                <a:cs typeface="Aptos"/>
              </a:rPr>
              <a:t>Current Implemented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24350-47F3-488D-91DB-F7B24AC3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B8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B80"/>
                </a:solidFill>
                <a:latin typeface="Aptos"/>
                <a:ea typeface="Aptos"/>
                <a:cs typeface="Aptos"/>
              </a:rPr>
              <a:t>Pharaxis-One Medical Information Management System (MIMS)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FFFE8-98F2-48E3-A7F1-2D823BBC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104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3DD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AFEF4-EBC0-476B-A71A-F471545B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27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2747"/>
                </a:solidFill>
                <a:latin typeface="Aptos"/>
                <a:ea typeface="Aptos"/>
                <a:cs typeface="Aptos"/>
              </a:rPr>
              <a:t>Snapshot Basis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8911A-00BA-41E5-B2C0-3D559727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80"/>
                </a:solidFill>
                <a:latin typeface="Aptos"/>
                <a:ea typeface="Aptos"/>
                <a:cs typeface="Aptos"/>
              </a:rPr>
              <a:t>Code-derived architecture from /apps/mims: Node + Express backend, React + Vite frontend, MySQL persistence, WebSocket realtime, scheduler/workers, and mobile sync.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E60A5-BFF4-45BE-A4CC-CFA44B63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283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2839A"/>
                </a:solidFill>
                <a:latin typeface="Aptos"/>
                <a:ea typeface="Aptos"/>
                <a:cs typeface="Aptos"/>
              </a:rPr>
              <a:t>As-of: 2026-05-09</a:t>
            </a:r>
          </a:p>
        </p:txBody>
      </p:sp>
    </p:spTree>
    <p:extLst>
      <p:ext uri="{BB962C8B-B14F-4D97-AF65-F5344CB8AC3E}">
        <p14:creationId xmlns:p14="http://schemas.microsoft.com/office/powerpoint/2010/main" val="17904259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4C2E0B-FDA3-40E2-B75A-22A6CF97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32B0E-6951-4531-A47D-467CBAA8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94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42946"/>
                </a:solidFill>
                <a:latin typeface="Aptos Display"/>
                <a:ea typeface="Aptos Display"/>
                <a:cs typeface="Aptos Display"/>
              </a:rPr>
              <a:t>Product Footprint In Current Codebase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64FE0-2D9A-42AC-8F41-AF9AD806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1057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60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F6078"/>
                </a:solidFill>
                <a:latin typeface="Aptos"/>
                <a:ea typeface="Aptos"/>
                <a:cs typeface="Aptos"/>
              </a:rPr>
              <a:t>Implementation scope spans operational case processing, content governance, admin control, integrations, and mobile sync.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6EB45-1951-4451-ACFB-2A81A78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3543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1BC1B-52EB-4F8F-8E36-D4A4A221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3543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F812B-DD56-494D-8635-E4B34FCB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3162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94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946"/>
                </a:solidFill>
                <a:latin typeface="Aptos"/>
                <a:ea typeface="Aptos"/>
                <a:cs typeface="Aptos"/>
              </a:rPr>
              <a:t>Core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22CCA-FDF4-4189-AAAE-A52F1630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F6078"/>
                </a:solidFill>
                <a:latin typeface="Aptos"/>
                <a:ea typeface="Aptos"/>
                <a:cs typeface="Aptos"/>
              </a:rPr>
              <a:t>Case lifecycle for MI/AE/PC/QA, inbox, chat, audit, and SLA workflows. Routes mounted for both /api and /api/v1 compatibility surfaces.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D4488-0619-4D9B-BD62-E203B1FC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3543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D7DA8-3045-4650-A502-595E0D39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3543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F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FC7B8-E1F9-47CF-A9EE-0C2E36FF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3162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94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946"/>
                </a:solidFill>
                <a:latin typeface="Aptos"/>
                <a:ea typeface="Aptos"/>
                <a:cs typeface="Aptos"/>
              </a:rPr>
              <a:t>Admin +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40B84-4DC0-4360-A638-03FA7A21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F6078"/>
                </a:solidFill>
                <a:latin typeface="Aptos"/>
                <a:ea typeface="Aptos"/>
                <a:cs typeface="Aptos"/>
              </a:rPr>
              <a:t>Admin console modules for access, policy graph, case numbering, DPPR, content intelligence, and integration settings with role-based route protection.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D4943-1DD6-420A-AF88-95604744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35433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2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AA05D-9107-4BFC-9184-420A158A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04950"/>
            <a:ext cx="3543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84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BF14C-808C-4207-9DE9-03DE5505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3162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94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946"/>
                </a:solidFill>
                <a:latin typeface="Aptos"/>
                <a:ea typeface="Aptos"/>
                <a:cs typeface="Aptos"/>
              </a:rPr>
              <a:t>Platform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40711-9799-46AE-A7E2-5C42F6A2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F6078"/>
                </a:solidFill>
                <a:latin typeface="Aptos"/>
                <a:ea typeface="Aptos"/>
                <a:cs typeface="Aptos"/>
              </a:rPr>
              <a:t>Workers, cron scheduler jobs, schema tracking, process telemetry, WebSocket realtime fan-out, Redis-backed rate limits/cache, and mobile push schema/services.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1BCA4-EE34-45E9-8F00-DA66673E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82461-9CFF-47E2-B503-B1DB3D8A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28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28C"/>
                </a:solidFill>
                <a:latin typeface="Aptos"/>
                <a:ea typeface="Aptos"/>
                <a:cs typeface="Aptos"/>
              </a:rPr>
              <a:t>Technology baseline: Node.js + Express, React + Vite, MySQL, WebSocket (ws), node-cron, Redis optional acceleration.</a:t>
            </a:r>
          </a:p>
        </p:txBody>
      </p:sp>
    </p:spTree>
    <p:extLst>
      <p:ext uri="{BB962C8B-B14F-4D97-AF65-F5344CB8AC3E}">
        <p14:creationId xmlns:p14="http://schemas.microsoft.com/office/powerpoint/2010/main" val="2033676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9E652E-FD45-4ADC-BB6D-7DB80BA2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183FC-82C3-46C7-BAF4-190AFD77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A4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2A48"/>
                </a:solidFill>
                <a:latin typeface="Aptos Display"/>
                <a:ea typeface="Aptos Display"/>
                <a:cs typeface="Aptos Display"/>
              </a:rPr>
              <a:t>Layered Enterprise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5BB33-D906-4365-9A60-A005375C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09650"/>
            <a:ext cx="10553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579EC-7471-459D-8F92-364B5756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A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A48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CC70E-C87B-4F9C-B5D0-8823C467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00150"/>
            <a:ext cx="7791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F6078"/>
                </a:solidFill>
                <a:latin typeface="Aptos"/>
                <a:ea typeface="Aptos"/>
                <a:cs typeface="Aptos"/>
              </a:rPr>
              <a:t>Web app (/mims), module apps, and mobile app consume REST APIs plus WebSocket hints for realtime updates.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D1E8E-E836-4743-A350-C13AB57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0553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1430">
            <a:solidFill>
              <a:srgbClr val="CCDA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B6306-1543-4C0E-902D-C9D149E4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A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A48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B8EDA-9F61-40C1-9819-6FF7B350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7791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F6078"/>
                </a:solidFill>
                <a:latin typeface="Aptos"/>
                <a:ea typeface="Aptos"/>
                <a:cs typeface="Aptos"/>
              </a:rPr>
              <a:t>React modules with route guards (ProtectedRoute + ModuleAccessGuard) and shared httpFetch/auth/session handling.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ADBAA-D018-4E4B-AEAA-923E4490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0553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B59A5-9811-4A94-8B6A-FD3C93E5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A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A48"/>
                </a:solidFill>
                <a:latin typeface="Aptos"/>
                <a:ea typeface="Aptos"/>
                <a:cs typeface="Aptos"/>
              </a:rPr>
              <a:t>API 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41AFE-5E6C-420A-90F5-BF70B1CB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7791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F6078"/>
                </a:solidFill>
                <a:latin typeface="Aptos"/>
                <a:ea typeface="Aptos"/>
                <a:cs typeface="Aptos"/>
              </a:rPr>
              <a:t>Express middleware chain: security headers, input sanitization, request context, exception capture, API and auth rate limiters.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A2EDC-01B0-4DFA-9FFE-E80CFC4A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10553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1430">
            <a:solidFill>
              <a:srgbClr val="CCDA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E3FBE-8A08-4B86-9C64-7AAA1278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A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A48"/>
                </a:solidFill>
                <a:latin typeface="Aptos"/>
                <a:ea typeface="Aptos"/>
                <a:cs typeface="Aptos"/>
              </a:rPr>
              <a:t>Domain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36196-5ED9-4D6C-AB93-E3D128AE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43400"/>
            <a:ext cx="7791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F6078"/>
                </a:solidFill>
                <a:latin typeface="Aptos"/>
                <a:ea typeface="Aptos"/>
                <a:cs typeface="Aptos"/>
              </a:rPr>
              <a:t>Cases, CM, integrations, reports, notifications, audit, policy, DPPR, scheduler, telemetry, and worker process orchestration.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539C9-26DB-498A-A21C-8EF2556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10553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E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40990-D95D-4A83-A3B5-A28362CA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A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A48"/>
                </a:solidFill>
                <a:latin typeface="Aptos"/>
                <a:ea typeface="Aptos"/>
                <a:cs typeface="Aptos"/>
              </a:rPr>
              <a:t>Data + Infra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87406-7AD0-4B80-ADD7-7C487FE9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91150"/>
            <a:ext cx="7791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F607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F6078"/>
                </a:solidFill>
                <a:latin typeface="Aptos"/>
                <a:ea typeface="Aptos"/>
                <a:cs typeface="Aptos"/>
              </a:rPr>
              <a:t>MySQL pool + migrations, Redis-backed cache/pubsub/rate-limit store, static storage for CM uploads and org logos.</a:t>
            </a:r>
          </a:p>
        </p:txBody>
      </p:sp>
    </p:spTree>
    <p:extLst>
      <p:ext uri="{BB962C8B-B14F-4D97-AF65-F5344CB8AC3E}">
        <p14:creationId xmlns:p14="http://schemas.microsoft.com/office/powerpoint/2010/main" val="8861265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46D7A3-2018-42E2-BB24-674A870D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99048-A800-47CF-8DF1-3CE594ED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52D4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52D4C"/>
                </a:solidFill>
                <a:latin typeface="Aptos Display"/>
                <a:ea typeface="Aptos Display"/>
                <a:cs typeface="Aptos Display"/>
              </a:rPr>
              <a:t>Application Landscape (Web + Mobile)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B9484-9EDB-4EB4-9047-AE61584F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5334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F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51069-AD56-4C72-9226-24D88B6A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D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D4C"/>
                </a:solidFill>
                <a:latin typeface="Aptos"/>
                <a:ea typeface="Aptos"/>
                <a:cs typeface="Aptos"/>
              </a:rPr>
              <a:t>Web Runtime (React + Vite)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4059B-5266-4447-A9D9-A2279D2C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5029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Primary app: /mims with BrowserRouter basename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Route access: ProtectedRoute + ModuleAccessGuard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Lazy modules: admin, content, reports, analytics,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process explorer, transmissions, audit views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Shared session expiry and idle-timeout handling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37EAC-1BB0-4878-B7E7-90350DC8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04900"/>
            <a:ext cx="5334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1430">
            <a:solidFill>
              <a:srgbClr val="D4DF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14D8A-C02D-4329-9C2C-27BF0721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3825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D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D4C"/>
                </a:solidFill>
                <a:latin typeface="Aptos"/>
                <a:ea typeface="Aptos"/>
                <a:cs typeface="Aptos"/>
              </a:rPr>
              <a:t>Role-Scoped Product Modules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BFAB3-26D1-4068-B4EA-DEE39297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62100"/>
            <a:ext cx="50292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mims_core: dashboard/inbox/chat/cases/transmissions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admin_console: policy, access, numbering, DPPR, QA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content_mgmt: CM documents/modules/templates/faqs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reports: report views + superadmin reports access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superadmin: organisations/users/audit/login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C4DDF-577E-4BAF-B818-C6B86CC5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5334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1430">
            <a:solidFill>
              <a:srgbClr val="D4DF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166AA-200D-4F06-8676-400FF004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D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D4C"/>
                </a:solidFill>
                <a:latin typeface="Aptos"/>
                <a:ea typeface="Aptos"/>
                <a:cs typeface="Aptos"/>
              </a:rPr>
              <a:t>Mobile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E6D1D-2644-4FC0-B6D7-5F496E73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5029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React Native app with API, realtime, and push services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Core screens: login, dashboard, inbox, cases, content,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notifications, account, app shell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WebSocket sync hints + device token registration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010F4-5C87-4C6A-B17C-5EAAA057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334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DF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C042A-FE24-4670-96F9-0F34A95C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502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D4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D4C"/>
                </a:solidFill>
                <a:latin typeface="Aptos"/>
                <a:ea typeface="Aptos"/>
                <a:cs typeface="Aptos"/>
              </a:rPr>
              <a:t>Shared Client Foundations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C1EC9-C0FB-4A13-AFFF-02543CD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86250"/>
            <a:ext cx="5029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httpFetch wrapper for transport consistency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Auth context and token/session propagation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Client telemetry hooks and error boundary</a:t>
            </a:r>
          </a:p>
          <a:p xmlns:a="http://schemas.openxmlformats.org/drawingml/2006/main">
            <a:pPr algn="l">
              <a:defRPr sz="1200" b="0">
                <a:solidFill>
                  <a:srgbClr val="5365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E"/>
                </a:solidFill>
                <a:latin typeface="Aptos"/>
                <a:ea typeface="Aptos"/>
                <a:cs typeface="Aptos"/>
              </a:rPr>
              <a:t>Reusable UI components and utility primitives</a:t>
            </a:r>
          </a:p>
        </p:txBody>
      </p:sp>
    </p:spTree>
    <p:extLst>
      <p:ext uri="{BB962C8B-B14F-4D97-AF65-F5344CB8AC3E}">
        <p14:creationId xmlns:p14="http://schemas.microsoft.com/office/powerpoint/2010/main" val="20031407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6E31B8-C995-41A8-A229-40986DE0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60CC5-F6B6-47B8-ACD7-31B2BFB9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94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2947"/>
                </a:solidFill>
                <a:latin typeface="Aptos Display"/>
                <a:ea typeface="Aptos Display"/>
                <a:cs typeface="Aptos Display"/>
              </a:rPr>
              <a:t>Backend Capability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2BE52-38B1-4284-887E-CA47E316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066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Express route surface is centralized via mountRoutes() and mirrored for /api and /api/v1 contract compatibility.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5E65E-1FA4-4497-9D94-D3957BF0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35242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2DE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961A9-B818-4258-BE19-AF990237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47"/>
                </a:solidFill>
                <a:latin typeface="Aptos"/>
                <a:ea typeface="Aptos"/>
                <a:cs typeface="Aptos"/>
              </a:rPr>
              <a:t>Domain APIs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8C5B2-2EAD-4CCD-A9D5-C82FA68D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1432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Cases, MI, AE, PC, QA endpoints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Inbox, notifications, chat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Reports + response log surfaces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CM module endpoints (/api/cm/*)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Implementation facts: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75 backend route files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74 unique route modules required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143 route require() references in server.js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7F679-4B2C-4A2E-B529-2723294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09700"/>
            <a:ext cx="35242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1430">
            <a:solidFill>
              <a:srgbClr val="D2DE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25F6B-6D02-4FA5-9D63-D5546E7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383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47"/>
                </a:solidFill>
                <a:latin typeface="Aptos"/>
                <a:ea typeface="Aptos"/>
                <a:cs typeface="Aptos"/>
              </a:rPr>
              <a:t>Admin &amp; Governance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251C8-5BF4-4F86-A82A-124AD8E9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31432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Access configurations and security groups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Case numbering and form definition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DPPR administration and execution views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Policy graph + content intelligence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Audit trails and transmission logs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Superadmin controls and reports access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Integration administration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1586E-2C91-4039-85A2-E3410334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09700"/>
            <a:ext cx="35242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2DE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C8335-9CE4-435F-B966-354A04A0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94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2947"/>
                </a:solidFill>
                <a:latin typeface="Aptos"/>
                <a:ea typeface="Aptos"/>
                <a:cs typeface="Aptos"/>
              </a:rPr>
              <a:t>Service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32B97-40C5-4E59-9D61-9B0EAEF2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31432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48 backend services for orchestration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Workers + schedulers + schema tracker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Realtime fan-out and notification delivery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Integration adapters (MIR/CRM/Vault/EMIR)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Rate-limit, cache, and session support via Redis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Health/version endpoints with DB verification</a:t>
            </a:r>
          </a:p>
        </p:txBody>
      </p:sp>
    </p:spTree>
    <p:extLst>
      <p:ext uri="{BB962C8B-B14F-4D97-AF65-F5344CB8AC3E}">
        <p14:creationId xmlns:p14="http://schemas.microsoft.com/office/powerpoint/2010/main" val="20876609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551AE8-2FED-4A9A-B001-1F679694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1C7C2-83FF-4A01-98BD-211DE84D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845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845"/>
                </a:solidFill>
                <a:latin typeface="Aptos Display"/>
                <a:ea typeface="Aptos Display"/>
                <a:cs typeface="Aptos Display"/>
              </a:rPr>
              <a:t>Data And Integration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8DADA-7A80-49DC-BD3D-8AC712D0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2DE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6B566-15E6-4996-873F-DE370E7B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430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8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845"/>
                </a:solidFill>
                <a:latin typeface="Aptos"/>
                <a:ea typeface="Aptos"/>
                <a:cs typeface="Aptos"/>
              </a:rPr>
              <a:t>Channel Clients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DB48C-6473-45A5-AABB-DE847A87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28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Web + Mobile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E40E7-EB68-4579-9A4A-6BEE4095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2192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1430">
            <a:solidFill>
              <a:srgbClr val="C8D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EA4A8-AA1E-4CD7-B58C-89E4413C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5430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8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845"/>
                </a:solidFill>
                <a:latin typeface="Aptos"/>
                <a:ea typeface="Aptos"/>
                <a:cs typeface="Aptos"/>
              </a:rPr>
              <a:t>MIMS API +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4F891-39FB-4696-A146-D211637C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28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Express Route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87B8E-D1DD-497E-AE62-C0DABC5D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192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2DE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02FEE-7914-419E-AA53-B7EA020F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430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8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845"/>
                </a:solidFill>
                <a:latin typeface="Aptos"/>
                <a:ea typeface="Aptos"/>
                <a:cs typeface="Aptos"/>
              </a:rPr>
              <a:t>Persistence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33848-7BCC-449F-8961-B2AFA8D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88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MySQL + Migration Runner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5CFE46-D7D4-4AD9-B3E8-74EBB786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1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F1686-AEFA-4B50-9C5A-F9EE55CA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33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A1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B5C96-7C93-4AAA-B8BD-873173A8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5048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2DE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0ACAF-BA7A-42F2-B93F-D5B31864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8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845"/>
                </a:solidFill>
                <a:latin typeface="Aptos"/>
                <a:ea typeface="Aptos"/>
                <a:cs typeface="Aptos"/>
              </a:rPr>
              <a:t>Core Data Domains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A0B204-D5B3-4FD9-9DF0-186F2AA7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45720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Core auth and multitenancy foundations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Inbox and email workflow records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Cases and extended case lifecycle tables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Notifications, chat, and mobile sync/push tables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Reports and content intelligence structures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25 migration files under backend/database/migrations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54FBB2-2AD2-40E4-A5E9-C830489A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143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1430">
            <a:solidFill>
              <a:srgbClr val="C8D8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6FA6A-A23A-48C9-B89E-F008A6F8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718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8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845"/>
                </a:solidFill>
                <a:latin typeface="Aptos"/>
                <a:ea typeface="Aptos"/>
                <a:cs typeface="Aptos"/>
              </a:rPr>
              <a:t>Integration Surfaces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D200B-F159-470C-B8E8-4AAD9A87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4667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EMIR, MIR, CRM, and Vault integration endpoints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Scheduled exports and case import/export routes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OAuth2 and scheduler admin configuration paths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Static document/logo storage mounts for governed content</a:t>
            </a:r>
          </a:p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• /api and /api/v1 dual-surface contract for clients</a:t>
            </a:r>
          </a:p>
        </p:txBody>
      </p:sp>
    </p:spTree>
    <p:extLst>
      <p:ext uri="{BB962C8B-B14F-4D97-AF65-F5344CB8AC3E}">
        <p14:creationId xmlns:p14="http://schemas.microsoft.com/office/powerpoint/2010/main" val="10355526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706AC1-882E-4EA6-8B58-C79620A4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B5D7D-B82B-42C4-B1C6-E2083E2B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C4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32C4A"/>
                </a:solidFill>
                <a:latin typeface="Aptos Display"/>
                <a:ea typeface="Aptos Display"/>
                <a:cs typeface="Aptos Display"/>
              </a:rPr>
              <a:t>Security, Compliance, And Governance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4A893-176E-42D1-9E02-B1268A3E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525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75D84-CD29-469B-B232-B231AC87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C4A"/>
                </a:solidFill>
                <a:latin typeface="Aptos"/>
                <a:ea typeface="Aptos"/>
                <a:cs typeface="Aptos"/>
              </a:rPr>
              <a:t>Identity And Session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1E201-D8EB-49AD-9668-EE25FB2D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87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7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780"/>
                </a:solidFill>
                <a:latin typeface="Aptos"/>
                <a:ea typeface="Aptos"/>
                <a:cs typeface="Aptos"/>
              </a:rPr>
              <a:t>JWT validation + session-table checks, role/org guards, org access expiry checks, and optional Redis session cache acceleration.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A7DD5-368F-4DBE-A454-30A50238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104900"/>
            <a:ext cx="525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420EF-F339-42E3-91D7-7F1D8415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763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C4A"/>
                </a:solidFill>
                <a:latin typeface="Aptos"/>
                <a:ea typeface="Aptos"/>
                <a:cs typeface="Aptos"/>
              </a:rPr>
              <a:t>Authentication Hardening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EFFA1-C79F-48AE-9283-F012B2AD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87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7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780"/>
                </a:solidFill>
                <a:latin typeface="Aptos"/>
                <a:ea typeface="Aptos"/>
                <a:cs typeface="Aptos"/>
              </a:rPr>
              <a:t>Auth/login/recovery/verification rate limiters with Redis-backed counters and in-memory fallback for resilience.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E6FE5-5B02-42DC-A393-A1DAC8E0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525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7F420-2CC3-485D-8060-0BD9DEDE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C4A"/>
                </a:solidFill>
                <a:latin typeface="Aptos"/>
                <a:ea typeface="Aptos"/>
                <a:cs typeface="Aptos"/>
              </a:rPr>
              <a:t>Input And Header Defenses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D7AE2E-F0EE-479B-86B1-14CDF9F3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87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7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780"/>
                </a:solidFill>
                <a:latin typeface="Aptos"/>
                <a:ea typeface="Aptos"/>
                <a:cs typeface="Aptos"/>
              </a:rPr>
              <a:t>Input sanitization for payload depth/keys/patterns; security headers include CSP (report-only default), HSTS on secure transport, frame and MIME protections.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2616C-0CE9-4ECA-B565-E4C0542A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525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95014-DDDB-4C36-86BA-501D0727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C4A"/>
                </a:solidFill>
                <a:latin typeface="Aptos"/>
                <a:ea typeface="Aptos"/>
                <a:cs typeface="Aptos"/>
              </a:rPr>
              <a:t>API Contract 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FE854-C97C-475A-9910-FA8818DF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33700"/>
            <a:ext cx="487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7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780"/>
                </a:solidFill>
                <a:latin typeface="Aptos"/>
                <a:ea typeface="Aptos"/>
                <a:cs typeface="Aptos"/>
              </a:rPr>
              <a:t>Version contract endpoint, explicit supported API versions, and mirrored /api/v1 route surface for controlled client migration.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BE665-46CF-4C4B-A735-850E36EA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525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E30DD-6D3C-4B8F-8E76-186D0024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C4A"/>
                </a:solidFill>
                <a:latin typeface="Aptos"/>
                <a:ea typeface="Aptos"/>
                <a:cs typeface="Aptos"/>
              </a:rPr>
              <a:t>Auditability And Traceability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7A3A9-5392-4CCC-A66C-12FDA8FB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487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7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780"/>
                </a:solidFill>
                <a:latin typeface="Aptos"/>
                <a:ea typeface="Aptos"/>
                <a:cs typeface="Aptos"/>
              </a:rPr>
              <a:t>Process telemetry capture, admin/system audit surfaces, transmission audit routes, login audit retention cleanup, and service log instrumentation.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54B6C-7975-45B9-8C68-1D44623A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5257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676C6F-99A7-408A-A385-3605C53D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C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C4A"/>
                </a:solidFill>
                <a:latin typeface="Aptos"/>
                <a:ea typeface="Aptos"/>
                <a:cs typeface="Aptos"/>
              </a:rPr>
              <a:t>Regulatory-Style Workflow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96C61-233C-478C-94E0-4BC27208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48150"/>
            <a:ext cx="4876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78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6780"/>
                </a:solidFill>
                <a:latin typeface="Aptos"/>
                <a:ea typeface="Aptos"/>
                <a:cs typeface="Aptos"/>
              </a:rPr>
              <a:t>2FA endpoints, password reset flows, role-scoped admin/superadmin paths, and immutable transition logging patterns in MI workflow modules.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5A7C5-BB47-4C0A-A184-97BB4535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104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1430">
            <a:solidFill>
              <a:srgbClr val="C8D8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8EAF3-42A9-4837-8CCB-5F19E579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18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18C"/>
                </a:solidFill>
                <a:latin typeface="Aptos"/>
                <a:ea typeface="Aptos"/>
                <a:cs typeface="Aptos"/>
              </a:rPr>
              <a:t>Compliance note: controls are implementation-present; validation evidence (SOP execution, CSV exports, sign-off records) should be maintained as operational artifacts.</a:t>
            </a:r>
          </a:p>
        </p:txBody>
      </p:sp>
    </p:spTree>
    <p:extLst>
      <p:ext uri="{BB962C8B-B14F-4D97-AF65-F5344CB8AC3E}">
        <p14:creationId xmlns:p14="http://schemas.microsoft.com/office/powerpoint/2010/main" val="14277046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BCEA6-E249-4C46-B3E8-7CD44CEA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7132D-322C-4EC8-B022-BC9CD041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2A4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2A48"/>
                </a:solidFill>
                <a:latin typeface="Aptos Display"/>
                <a:ea typeface="Aptos Display"/>
                <a:cs typeface="Aptos Display"/>
              </a:rPr>
              <a:t>Reliability And Operational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189B9-3E12-4922-9C7D-F2342DD7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F796C-9328-4824-9B0C-270C3921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63B58-E9D4-43C4-9807-45E9F40A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A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A48"/>
                </a:solidFill>
                <a:latin typeface="Aptos"/>
                <a:ea typeface="Aptos"/>
                <a:cs typeface="Aptos"/>
              </a:rPr>
              <a:t>Process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FB257-4331-4A73-BCA9-A666B997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startWorkers() forks poller/scheduler child processes; server startup waits for DB migration initPromise before accepting traffic.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FC228-B746-441A-A3AF-64262C32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C4091-F74C-4310-AF7B-3F659C44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A63E4-2D8D-4731-9888-FE714145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A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A48"/>
                </a:solidFill>
                <a:latin typeface="Aptos"/>
                <a:ea typeface="Aptos"/>
                <a:cs typeface="Aptos"/>
              </a:rPr>
              <a:t>Scheduling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AA674-44B1-4CB1-BFA6-E6F43000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Central node-cron scheduler with named jobs for exports, SLA refresh, alerting, retention cleanup, and simulation tasks.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BF2CB9-FFA5-4D58-9B0F-FF7E7817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085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138A1-47F5-4CB8-B9B6-739698F1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A19A3-9C3D-4B70-83B3-5D72349E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A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A48"/>
                </a:solidFill>
                <a:latin typeface="Aptos"/>
                <a:ea typeface="Aptos"/>
                <a:cs typeface="Aptos"/>
              </a:rPr>
              <a:t>Realtime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12091-F9E6-4ED4-B512-8EF9AD6E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099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Chat and app sync WebSocket channels with Redis pub/sub fan-out; graceful fallback to in-process broadcast if Redis is unavailable.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5F281-564B-4C79-9810-1CDD7796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085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0858-69F3-4532-94D3-FB6308BD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841DE-066F-4B6F-AA54-D4831EB3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A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A48"/>
                </a:solidFill>
                <a:latin typeface="Aptos"/>
                <a:ea typeface="Aptos"/>
                <a:cs typeface="Aptos"/>
              </a:rPr>
              <a:t>Health Monitoring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BD084-8BB1-47F7-BEC7-350AA1CE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386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Health endpoints execute SELECT 1 DB check; version endpoints return API contract metadata and supported versions.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F448B-1C3F-4FF8-9BE7-423EF76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58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F3E005-3192-4808-962D-D7E27D9C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1430">
            <a:solidFill>
              <a:srgbClr val="D5E1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6898C-AB6D-4671-9EFA-FB01ED22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A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2A48"/>
                </a:solidFill>
                <a:latin typeface="Aptos"/>
                <a:ea typeface="Aptos"/>
                <a:cs typeface="Aptos"/>
              </a:rPr>
              <a:t>Failure Containment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A0BB2-6424-4270-A11C-DFA5EBBE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67350"/>
            <a:ext cx="809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F"/>
                </a:solidFill>
                <a:latin typeface="Aptos"/>
                <a:ea typeface="Aptos"/>
                <a:cs typeface="Aptos"/>
              </a:rPr>
              <a:t>Try/catch wrappers for telemetry and jobs, service log entries for success/failure events, and controlled shutdown handlers for SIGINT/SIGTERM/SIGUSR2.</a:t>
            </a:r>
          </a:p>
        </p:txBody>
      </p:sp>
    </p:spTree>
    <p:extLst>
      <p:ext uri="{BB962C8B-B14F-4D97-AF65-F5344CB8AC3E}">
        <p14:creationId xmlns:p14="http://schemas.microsoft.com/office/powerpoint/2010/main" val="2514841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BD5D28-052D-48B3-9092-8B840253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CC987-48B3-452E-BC85-4F1B73BF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D4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32D4C"/>
                </a:solidFill>
                <a:latin typeface="Aptos Display"/>
                <a:ea typeface="Aptos Display"/>
                <a:cs typeface="Aptos Display"/>
              </a:rPr>
              <a:t>Implementation Scorecard And Next Hardening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E3A27-2CB1-4F3C-8B8D-C05264F4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AB82A-4405-487A-A8D7-D9B4DE0C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rPr>
              <a:t>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E80B0-694C-4B15-9DF6-90FBA728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Backend route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CBD1D-F9AF-47C6-96A1-8E9D4716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1239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24FD4-BE48-4A01-A201-D23E64D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3335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A8100-173D-4C1F-8300-C69E08AD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Backend service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EED59-FD37-41FD-A33B-77BF7576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239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D4944-3FA0-4B1B-AE05-0F0A6F9D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335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33541-4EAC-406B-8116-CE822CFD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Middleware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DB657-DFDE-418C-90CA-A0212587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1239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2DEDA-77DF-4E12-AA6A-69599163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335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9382F-AC23-4AE5-BD31-20B933D2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Migration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A5DF0-EC95-4D09-872B-E5716DA3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E2ED9-F301-4B5B-81EA-60F3C7E8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696DB-1621-48AF-A799-04AC5FCD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Frontend module domains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A71D0-1AB1-4168-8A55-28511BA2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31D36-3C16-483B-9C22-6320DA6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FBD34-6EA9-46D8-A4F0-04A78268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575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Mobile screens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E051F-070E-43B9-B5D3-4735EDF9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39CEA-636C-4E9F-BAF7-40234732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rPr>
              <a:t>74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D5B8E-B1B5-477F-92FD-D4BB188E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575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Unique route modules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95525A-3849-4658-BB15-A53D794C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E1E55-7170-4428-B73C-AD1D2FF5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813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5FA8"/>
                </a:solidFill>
                <a:latin typeface="Aptos Display"/>
                <a:ea typeface="Aptos Display"/>
                <a:cs typeface="Aptos Display"/>
              </a:rPr>
              <a:t>143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D29C20-E78B-4002-BB11-BCC96F50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575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Route requires in server.js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D510F4-5A69-4CD4-B85B-E2ACACF8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10490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53B4D8-D3C7-4E84-A380-43BBB6E1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D4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D4C"/>
                </a:solidFill>
                <a:latin typeface="Aptos"/>
                <a:ea typeface="Aptos"/>
                <a:cs typeface="Aptos"/>
              </a:rPr>
              <a:t>Recommended Next Actions (Implementation-Adjacent)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49A120-8893-49C5-8D2F-9D63F464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382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1) Publish and monitor CSP enforcement transition plan from report-only to enforced mode.</a:t>
            </a:r>
          </a:p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2) Add production architecture telemetry baseline (API latency, websocket fan-out, scheduler success rate).</a:t>
            </a:r>
          </a:p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3) Formalize deployment topology doc for horizontal scaling and Redis/DB high availability.</a:t>
            </a:r>
          </a:p>
          <a:p xmlns:a="http://schemas.openxmlformats.org/drawingml/2006/main">
            <a:pPr algn="l">
              <a:defRPr sz="1200" b="0">
                <a:solidFill>
                  <a:srgbClr val="5A6C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C85"/>
                </a:solidFill>
                <a:latin typeface="Aptos"/>
                <a:ea typeface="Aptos"/>
                <a:cs typeface="Aptos"/>
              </a:rPr>
              <a:t>4) Expand regression checks for integration routes and mobile sync failure handling.</a:t>
            </a:r>
          </a:p>
        </p:txBody>
      </p:sp>
    </p:spTree>
    <p:extLst>
      <p:ext uri="{BB962C8B-B14F-4D97-AF65-F5344CB8AC3E}">
        <p14:creationId xmlns:p14="http://schemas.microsoft.com/office/powerpoint/2010/main" val="805310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2026-05-09T11:58:37.7650000Z</dcterms:created>
  <dcterms:modified xsi:type="dcterms:W3CDTF">2026-05-09T11:58:37.7650000Z</dcterms:modified>
</coreProperties>
</file>